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83167e62-be11-2e10-7434-71f7394a0208}">
          <p14:sldIdLst>
            <p14:sldId id="256"/>
            <p14:sldId id="257"/>
          </p14:sldIdLst>
        </p14:section>
        <p14:section name="Phần 0 · Đặt bài toán" id="{abc60783-dfb3-2724-8215-be4e3454797a}">
          <p14:sldIdLst>
            <p14:sldId id="258"/>
            <p14:sldId id="259"/>
          </p14:sldIdLst>
        </p14:section>
        <p14:section name="Phần 1 · Tầng vận hành (H₁)" id="{71c6b4a1-604b-804e-4c6a-843e2447e18b}">
          <p14:sldIdLst>
            <p14:sldId id="260"/>
            <p14:sldId id="261"/>
          </p14:sldIdLst>
        </p14:section>
        <p14:section name="Phần 2 · Tầng hành vi &amp; nhận thức (H₂)" id="{cf6a8109-6702-4965-5604-89890d93681f}">
          <p14:sldIdLst>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báo cáo kiểm tra xem 6 Persona Agent chạy tự do trên Facebook thật có giữ được tính nhất quán với hồ sơ nhân vật hay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cấu trúc 4 phần: đặt bài toán, tầng vận hành H₁, tầng hành vi &amp; nhận thức H₂, tổng kết &amp;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Hôm nay em xin báo cáo kết quả thử nghiệm 6 Persona Agent tự động sử dụng Facebook thực tế.
Mục tiêu cốt lõi của đợt thử nghiệm này là kiểm tra xem: Khi để Agent chạy tự do trên Facebook thật, hành vi của chúng có giữ được tính nhất quán với hồ sơ nhân vật hay không, hay lại hành xử như bot spam ngẫu nhiên?
Bọn em chia bài toán thành 2 tầng kiểm chứng:
- Tầng 1 (H₁): Kiểm tra nhịp sinh hoạt — xem giờ giấc online và thời lượng phiên có khớp với đời thực của từng ngành nghề không.
- Tầng 2 (H₂): Kiểm tra hành vi khi trên mạng xã hội — từ việc chọn xem gì, cuộn nhanh hay chậm, đến lý do tại sao lại bấm like hay bình luận.
Đợt này nhóm chạy được 24 phiên hoàn chỉnh, ghi nhận 95 lượt kịch bản được lên lịch và hơn 1,600 hành động có đầy đủ nhật ký suy luận. Sau đây em xin đi vào chi tiết tầng vận hành lịch trình ở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persona đại diện:
001 Thiết kế đồ họa (Nữ, 26 tuổi · TP.HCM) — Tư duy logic, cờ vua, kiến trúc AI
002 Lao động tự do (Nữ, 42 tuổi · Nghệ An) — Gia đình, tâm linh Phật giáo
003 Bảo vệ trực ca (Nam, 28 tuổi · Đà Nẵng) — Trực đêm, ẩm thực đường phố, thích bình luận
004 Phục vụ nhà hàng (Nam, 22 tuổi · TP.HCM) — Lệch ca, thích Reels và bóng đá
005 Thợ cơ khí (Nam, 31 tuổi · Đà Nẵng) — Kỹ thuật, thiên văn, lịch sử
006 Kinh doanh BĐS (Nam, 52 tuổi · Cần Thơ) — Gen X thận trọng, khảo sát giá nhà đất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Ở Slide 1.1, nhìn vào biểu đồ Panel A các anh chị sẽ thấy lịch online của Agent tập trung chính vào ca tối (gần 38%) và ca sáng sớm (hơn 30%), trong khi khung 23h đêm đến 6h sáng hoàn toàn không chạy, phản ánh đúng nhịp sinh học nghỉ ngơi thông thường.
Điểm ấn tượng nhất là ở Panel B: Sự phân bổ giờ vào mạng của 6 Persona được điều hướng mượt mà bởi 2 nhóm thuộc tính cốt lõi trong hồ sơ: Đặc thù công việc (career_role, work_arrangement) và Ràng buộc đời sống (children, generational_cohort), chia thành 2 nhóm rất rõ nét:
Nhóm 1: Bị bó buộc chặt bởi ca kíp On-site trực tiếp (004 &amp; 003):
Cậu nhân viên nhà hàng 004 (Lĩnh vực: Dịch vụ ăn uống, Hình thức: On-site): Ca trưa 11h–14h đạt đúng 0.0% phiên vì đây là cao điểm bưng bê phục vụ khách; thời gian online được dồn sang xế chiều khi quán vắng khách (31.2%) và tối muộn (37.5%).
Anh bảo vệ 003 (Lĩnh vực: Bảo vệ, Hình thức: On-site): Hoàn toàn vắng bóng ở ca chiều (0.0%), nhưng tập trung tới 50% vào ca tối và hơn 41% vào sáng sớm khi bắt đầu hoặc bàn giao ca trực.
Nhóm 2: Linh hoạt thời gian hoặc có ràng buộc gia đình, lứa tuổi (001, 002, 005, 006):
Bạn thiết kế 001 (Thiết kế đồ họa, Hình thức: Hybrid) làm việc máy tính linh hoạt nên lịch online rải đều qua các cữ nghỉ sáng - trưa - tối.
Chị lao động 002 có thuộc tính "Số con" là "Từ 3 con trở lên" nên thời gian ban ngày bị phân mảnh bởi việc nhà và chăm sóc con cái, chỉ tranh thủ vào mạng ở các cữ ngắn.
Bác kinh doanh 006 thuộc thế hệ "Gen X (55-64 tuổi)" với phong thái điềm đạm, sáng sớm lo công việc đời thường nên online rất ít (chỉ 7.7%), chủ yếu tập trung vào giờ nghỉ trưa (38.5%) và buổi tối (46.2%).
Nhờ gắn chặt với các trường nghề nghiệp và hoàn cảnh sống, nhịp sinh hoạt của từng Agent hiện lên rất chân thực và có căn cứ rõ ràng.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Tiếp theo ở Slide 1.2, chúng ta xem xét hai chỉ số vận hành quan trọng: một ngày vào mạng mấy lần (daily_windows) và mỗi lần lướt bao lâu (duration_min). Hai chỉ số này được chi phối trực tiếp bởi 2 nhóm thuộc tính: Mức độ linh hoạt công việc &amp; kỹ năng số (work_arrangement, tech_savviness) cùng Khẩu vị tiêu thụ nội dung (media_diet, streaming_hours_per_week):
- Về Tần suất vào mạng (Panel A - bình quân 2.11 lần/ngày):
  + Bạn thiết kế 001 có tần suất online cao nhất (2.75 lần/ngày) -- hoàn toàn phù hợp với thuộc tính "Hình thức làm việc hiện tại" là "Hybrid" và "Độ am hiểu và kỹ năng sử dụng thiết bị số và ứng dụng mạng." là "Rất quen thuộc", làm việc thường xuyên trên máy tính nên dễ dàng tranh thủ vào mạng.
  + Ngược lại, chị nội trợ 002 (1.67 lần/ngày) và anh bảo vệ 003 (1.71 lần/ngày) có tần suất thấp nhất hệ thống -- do bị ràng buộc bởi công việc lao động chân tay, việc nhà con cái ("Từ 3 con trở lên") và tâm lý "Ngại sử dụng" thiết bị số của 003.
- Về Thời lượng mỗi phiên (Panel B - bình quân 18.5 phút):
  + Cậu phục vụ 004 có thời lượng phiên dài nhất (23.6 ± 7.1 phút) -- khớp hoàn toàn với thuộc tính "Loại hình nội dung yêu thích nhất" là "Video ngắn" và mức tiêu thụ video cao ("16-30 giờ/tuần"), rất dễ bị cuốn theo luồng gợi ý liên hoàn của Reels.
  + Trong khi đó, anh thợ cơ khí 005 có thời lượng ngắn và kỷ luật nhất (13.1 ± 2.3 phút) -- nhất quán với thuộc tính "Tổng thời gian xem phim, video và livestream hàng tuần." ở mức rất thấp (chỉ "3-7 giờ/tuần") và tác phong "Quyết định nhanh", lướt nhanh đúng mục tiêu kỹ thuật rồi dừng.
Như vậy, ở Tầng 1, các Agent đã thể hiện được việc sử dụng mạng xã hội có chừng mực và đúng thói quen đời thường, phù hợp với đặc điểm hồ sơ persona.
DỮ LIỆU NỀN &amp; Q&amp;A DỰ PHÒNG
Dữ liệu nền &amp; Bối cảnh kỹ thuật:
- Phân phối thời lượng: Phần lớn nằm trong khoảng 10–30 phút, phản ánh đúng dữ liệu hành vi lướt mạng xã hội ở Việt Nam.
- Dự phòng câu hỏi thảo luận:
- Hỏi: Tại sao độ lệch chuẩn thời lượng của 004 lại cao hơn hẳn các persona khác (±7.1 phút)?  
    Đáp: Vì 004 phụ thuộc vào bảng tin Reels. Nếu gặp chuỗi video bóng đá đúng sở thích, agent tiếp tục xem; nếu gặp chuỗi video không đúng gu, agent sẽ dừng phiên sớm hơn.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Tại Slide 2.1.1, Dữ liệu phân bổ hành động của 6 Persona vào một bảng đối sánh.
Nhìn dọc theo từng cột nhân vật, sẽ thấy sự phân hóa phong cách diễn ra cực kỳ sắc nét ngay từ những nút bấm thô nhất:
- Đầu tiên là cột của cậu phục vụ trẻ tuổi 004: Video Reels chiếm tới 84.5% toàn bộ thời lượng thao tác của cậu. Cậu lướt qua hàng trăm clip, hầu như không dừng lại cuộn bài feed thông thường và hoàn toàn không bao giờ gõ bình luận (0.0%). Vì vậy, tỷ lệ tương tác chủ động AER ở mức thấp nhất, chỉ 2.2%.
- Ở hai cột của anh thợ cơ khí 005 và bác bảo vệ 003: Chúng ta thấy tỷ lệ bình luận nhảy vọt lên 5%–6%, gom tới 85% lượng comment của toàn mạng xã hội. Riêng anh thợ 005 còn tích cực gõ ô tìm kiếm chiếm 4.7% và là người duy nhất bấm nút Chia sẻ bài viết, đẩy chỉ số AER lên cao nhất (11.8%).
- Ở cột của chị nội trợ 002: Đây là persona duy nhất tập trung thả tim và thương thương với tỷ lệ 3.8%, đúng với tâm lý phụ nữ hướng về gia đình và tín ngưỡng Phật giáo giàu lòng nhân ái.
- Và hai cột ngoài cùng của bạn thiết kế 001 và bác kinh doanh 006: Tỷ lệ cuộn feed đều đặn khoảng một phần ba (33%), đọc bài chiếm 20%, bấm Like lịch sự 5%–6%. Họ giữ vai trò là nhóm người dùng phổ thông chuẩn mực.
Bảng số liệu trực quan này cho thấy hành vi của Agent đã tự động tách tầng rõ rệt, không hề có sự rập khuôn hay tương tác bừa bãi.
DỮ LIỆU NỀN &amp; Q&amp;A DỰ PHÒNG
Dữ liệu nền &amp; Bối cảnh kỹ thuật:
- Công thức AER: AER = \frac{reacts + comments + shares}{bước tiếp cận bài viết}.
- Chuẩn hóa phần trăm: Mỗi cột Persona cộng lại vừa vặn xấp xỉ 100\%, phản ánh cơ cấu 'ngân sách chú ý' (attention budget) của từng nhân vật.
- Dự phòng câu hỏi thảo luận:
- Hỏi: Tại sao tỷ lệ AER của 004 lại chỉ có 2.2% trong khi tổng số hành vi ghi nhận nhiều nhất (N = 412)?  
    Đáp: Vì hành vi chủ đạo của 004 là xem video Reels. Thuật toán Reels liên tục tải video mới khiến số lượt tiếp cận rất cao, nhưng thói quen của người trẻ khi xem Reels là xem và quẹt qua (watch/next), ngưỡng để dừng lại thả tim hay comment cao hơn rất nhiều so với đọc bài Feed thông thường.
- Hỏi: Bảng phân bổ này có đủ để kết luận về phong cách Agent chưa?  
    Đáp: Bảng này cho thấy phân phối thô rất rõ nét. Để trực quan hóa sự tương quan đa chiều và phân nhóm không gian, chúng ta sẽ xem bản đồ ở Slide 2.1.2 ngay sau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Sang Slide 2.1.2, nhóm muốn cùng các anh chị kiểm tra một câu hỏi rất thực tế: Liệu 6 Agent này có bị hành xử rập khuôn như những con bot vô hồn hay không?
Để trả lời, em đã trực quan hóa các hành vi tương tác cốt lõi lên một bản đồ không gian 2 trục qua phương pháp pca. Các mũi tên màu xanh thể hiện hướng tác động của từng hành vi, còn các chấm màu là vị trí của từng nhân vật.
Nhìn trực quan lên biểu đồ, thấy ngay 4 nhóm tách biệt rất rõ ràng:
- Về phía bên phải (hướng mũi tên Comment): Anh thợ cơ khí 005 và anh bảo vệ 003 tạo thành nhóm đàm luận xã hội — đây là 2 nhân vật rất chăm chỉ gõ chữ và thảo luận.
- Ở phía trên đỉnh (hướng mũi tên Thả tim và Thương thương): Chị nội trợ 002 đứng riêng biệt thành một cực cảm xúc ấm áp, luôn hướng về gia đình và tôn giáo.
- Ở góc dưới bên trái (hướng mũi tên Video ngắn): Cậu phục vụ trẻ 004 tách hẳn ra với thói quen lướt Reels liên tục nhưng hầu như không bao giờ bình luận.
- Và ngay tại tâm biểu đồ (0, 0): Bạn thiết kế 001 và bác doanh nhân 006 đứng sát nhau, đại diện cho phong cách lướt đọc tin tức và bấm Like lịch sự chuẩn mực.
Biểu đồ trực quan này chứng minh rằng: chỉ từ những tương tác rất tự nhiên, các Agent đã tự động rẽ nhánh thành 4 phong cách sống độc lập, tạo tiền đề để chúng ta đối sánh sâu với hồ sơ ở slide tiếp theo.
DỮ LIỆU NỀN &amp; Q&amp;A DỰ PHÒNG
Dữ liệu nền &amp; Bối cảnh kỹ thuật:
- Bảng tọa độ phân bố 6 Persona trên không gian hành vi:
- 001 (Thiết kế): X = +0.29, Y = -0.18 (sát tâm mốc chuẩn).
- 002 (Nội trợ): X = -1.24, Y = +1.95 (cực ấm áp).
- 003 (Bảo vệ): X = +0.98, Y = -0.31 (cực đàm luận).
- 004 (Phục vụ): X = -1.81, Y = -1.42 (cực Reels).
- 005 (Cơ khí): X = +1.63, Y = +0.14 (cực đàm luận).
- 006 (Kinh doanh): X = +0.14, Y = -0.18 (sát tâm mốc chuẩn).
- Dự phòng câu hỏi thảo luận:
- Hỏi: Tại sao không dùng thuật toán gom cụm như K-Means mà đã chia thành 4 nhóm?  
    Đáp: Với cỡ mẫu thử nghiệm N=6, chạy thuật toán gom cụm hình thức sẽ mang tính khiên cưỡng. Trực quan hóa lên biểu đồ cho thấy khoảng cách giữa các nhóm tách biệt rất xa và bám sát các vector hành vi trực quan, người xem nhìn vào là nhận diện được ngay 4 mẫu hình phong cách.
- Hỏi: Vị trí gốc tọa độ (0, 0) có ý nghĩa gì trên bản đồ?  
    Đáp: Gốc tọa độ là tâm trung bình của toàn bộ tập dữ liệu. 001 và 006 nằm sát tâm nghĩa là họ không thiên lệch cực đoan về một hành vi đặc thù nào (không nghiện cmt, không nghiện reels, không chỉ thả tim), mà phân phối hành vi của họ mang tính phổ quát và cân bằng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Tại Slide 2.1.3, sau khi chạy PCA, chúng ta thấy dữ liệu tự nhiên tách thành 4 nhóm rất rõ nét.
Trong đó, nhóm nằm sát gốc tọa độ là bạn thiết kế 001 và bác 006: phân phối hành vi của họ gần như trùng với mức trung bình chung — chủ yếu lướt đọc Feed và bấm Like lịch sự — nên chúng em giữ làm mốc đối chứng (Baseline).
Với 3 cụm lệch tâm còn lại, nhóm tiến hành so sánh đối chiếu từng cụm với phần còn lại của mạng xã hội để tìm nguyên nhân gốc rễ:
- Thứ nhất, cậu phục vụ 004 so với 5 người còn lại: Cậu dồn tới 83.5% hành động cho Reels video ngắn (trong khi 5 người kia bình quân chưa tới 10%), và comment đúng bằng 0%. Sự khác biệt một trời một vực này bắt nguồn từ đúng 2 trường thuộc tính: 'Nội dung thích nhất là Video ngắn' và thói quen 'Tàu ngầm Gen Z'.
- Thứ hai, cặp đôi anh bảo vệ 003 và anh thợ 005 so với 4 người còn lại: Hai anh gom tới gần 86% toàn bộ comment của hệ thống (30 trên 35 lượt bình luận), trong khi 4 người kia cộng lại chỉ được 5 comment lẻ tẻ. Nguyên nhân là hồ sơ của anh 003 ghi rõ 'chiến thần bình luận dạo' để giao lưu ca đêm, còn anh 005 là 'người thích chia sẻ kiến thức' và cũng là người duy nhất bấm Share bài thiên văn.
- Thứ ba, chị nội trợ 002 so với phần còn lại: Chị nắm gần 78% cảm xúc ấm áp (thả tim và thương thương), trong khi 3 người khác hoàn toàn bằng 0. Điều này xuất phát từ thuộc tính 'Phật giáo' và 'Tâm trạng lo âu cần điểm tựa gia đình', dùng mạng xã hội để lan tỏa sự đồng cảm.
Dù vậy,có lưu ý: Đây là bước EDA khám phá trên mẫu nhỏ 6 Persona để xác nhận tính nhất quán của kiến trúc Agent, chưa phải kết luận quy luật tổng quát.
DỮ LIỆU NỀN &amp; Q&amp;A DỰ PHÒNG
Dữ liệu nền &amp; Bối cảnh kỹ thuật:
- Tọa độ PCA gốc: 001 (+0.29, -0.18) và 006 (+0.14, -0.18) có khoảng cách Euclidean tới gốc tọa độ (0, 0) nhỏ nhất (d &lt; 0.35). Trong khi 004 (d = 2.30), 002 (d = 2.31), 005 (d = 1.64) nằm ở khoảng cách rất xa, xác nhận sự lệch tâm có ý nghĩa toán học.
- Dự phòng câu hỏi thảo luận:
- Hỏi: Tại sao nhóm gần gốc tọa độ lại không đem ra so sánh One-vs-Rest?  
    Đáp: Trong phân tích PCA, điểm nằm gần gốc (0, 0) mang giá trị biến thiên gần bằng 0 trên các trục thành phần chính, tức là hành vi của họ phản ánh hành vi trung bình của cả tập mẫu (lướt đọc Feed và bấm Like phổ thông). Việc dùng họ làm mốc chuẩn mực (Baseline) giúp làm nổi bật độ lệch đặc thù của 3 cụm còn lại mà không làm loãng thông tin.
- Hỏi: Các trường thuộc tính Persona này có bị 'gài' trực tiếp vào code hành động không?  
    Đáp: Hoàn toàn không. Toàn bộ hồ sơ được đưa vào dạng văn bản tự nhiên (System Prompt). Agent tự suy luận qua chuỗi Chain-of-Thought dựa trên bài viết trước mắt để quyết định hành động, chứng minh năng lực hiểu và hóa thân nhân vật của mô hình ngôn ngữ.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LỜI THOẠI
Tại Slide 2.2, chúng ta đi sâu vào câu hỏi: Điều gì trong suy nghĩ đã thúc đẩy Agent dừng lại và tương tác?
Toàn bộ 325 hành vi có chủ đích đều tuân theo nguyên tắc 1-1: Mỗi hành động bắt buộc phải gắn với một căn cứ nhận thức cụ thể trong chuỗi suy luận CoT.
Khi nhìn vào bảng tổng hợp ma trận động lực:
- Mỗi nhân vật vận hành theo một vector quan tâm độc lập:
  + Bạn thiết kế 001 tập trung vào cờ vua logic và ứng dụng AI kiến trúc.
  + Chị nội trợ 002 hướng về đạo hiếu gia đình và tâm linh hướng thiện.
  + Anh bảo vệ 003 bị chi phối bởi ẩm thực và nhu cầu giao lưu bình dân.
  + Cậu phục vụ 004 chỉ quan tâm đến bóng đá và video giải trí ngắn.
  + Anh thợ 005 đam mê khoa học thiên văn và tri ân các dấu mốc lịch sử.
  + Bác đầu tư 006 rất thực tế, tập trung khảo sát giá đất và thông số căn hộ.
Để làm rõ sự khác biệt này, ở 3 slide tiếp theo em xin đối sánh trực diện theo từng cặp hành vi cụ thể.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NỀN &amp; Q&amp;A DỰ PHÒNG
Dữ liệu nền &amp; Bối cảnh kỹ thuật:
- Trường trích xuất: primary_dimension và primary_value được parser tự động bóc tách từ trường JSON output của LLM trong mỗi bước quyết định.
- Động lực phổ biến toàn mạng: curiosity (36.6%), interest_real_estate (11.1%), value_tradition (6.5%), cuisine (8.0%).
- Dự phòng câu hỏi thảo luận:
- Hỏi: Tại sao không gom 6 persona thành 2 nhóm lớn cho gọn slide?  
    Đáp: Thực tế dữ liệu cho thấy mỗi persona có định hướng hành vi độc lập: dù 001, 005, 006 cùng có tính tò mò cao nhưng đối tượng quan tâm hoàn toàn khác nhau (thẩm mỹ, kỹ thuật, tài chính). Trình bày độc lập theo từng persona giúp giữ đúng bản sắc thực tế của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pic>
        <p:nvPicPr>
          <p:cNvPr id="2" name="Image 0" descr="tri_tl.png">    </p:cNvPr>
          <p:cNvPicPr>
            <a:picLocks noChangeAspect="1"/>
          </p:cNvPicPr>
          <p:nvPr/>
        </p:nvPicPr>
        <p:blipFill>
          <a:blip r:embed="rId1"/>
          <a:stretch>
            <a:fillRect/>
          </a:stretch>
        </p:blipFill>
        <p:spPr>
          <a:xfrm>
            <a:off x="0" y="0"/>
            <a:ext cx="2194560" cy="2194560"/>
          </a:xfrm>
          <a:prstGeom prst="rect">
            <a:avLst/>
          </a:prstGeom>
        </p:spPr>
      </p:pic>
      <p:pic>
        <p:nvPicPr>
          <p:cNvPr id="3" name="Image 1" descr="tri_br.png">    </p:cNvPr>
          <p:cNvPicPr>
            <a:picLocks noChangeAspect="1"/>
          </p:cNvPicPr>
          <p:nvPr/>
        </p:nvPicPr>
        <p:blipFill>
          <a:blip r:embed="rId2"/>
          <a:stretch>
            <a:fillRect/>
          </a:stretch>
        </p:blipFill>
        <p:spPr>
          <a:xfrm>
            <a:off x="10360152" y="5029200"/>
            <a:ext cx="1828800" cy="1828800"/>
          </a:xfrm>
          <a:prstGeom prst="rect">
            <a:avLst/>
          </a:prstGeom>
        </p:spPr>
      </p:pic>
      <p:sp>
        <p:nvSpPr>
          <p:cNvPr id="4" name="Text 0"/>
          <p:cNvSpPr/>
          <p:nvPr>
            <p:ph idx="102" type="title" hasCustomPrompt="1"/>
          </p:nvPr>
        </p:nvSpPr>
        <p:spPr>
          <a:xfrm>
            <a:off x="822960" y="2286000"/>
            <a:ext cx="9875520" cy="1554480"/>
          </a:xfrm>
          <a:prstGeom prst="rect">
            <a:avLst/>
          </a:prstGeom>
          <a:noFill/>
          <a:ln/>
        </p:spPr>
        <p:txBody>
          <a:bodyPr wrap="square" rtlCol="0"/>
          <a:lstStyle>
            <a:lvl1pPr algn="l" indent="0" marL="0">
              <a:buNone/>
              <a:defRPr lang="en-US" sz="3800" b="1" dirty="0">
                <a:solidFill>
                  <a:schemeClr val="tx1"/>
                </a:solidFill>
              </a:defRPr>
            </a:lvl1pPr>
          </a:lstStyle>
          <a:p>
            <a:pPr algn="l" indent="0" marL="0">
              <a:buNone/>
            </a:pPr>
            <a:endParaRPr lang="en-US" sz="3800" dirty="0"/>
          </a:p>
        </p:txBody>
      </p:sp>
      <p:sp>
        <p:nvSpPr>
          <p:cNvPr id="5" name="Text 0"/>
          <p:cNvSpPr/>
          <p:nvPr>
            <p:ph idx="103" type="body" hasCustomPrompt="1"/>
          </p:nvPr>
        </p:nvSpPr>
        <p:spPr>
          <a:xfrm>
            <a:off x="822960" y="4023360"/>
            <a:ext cx="9144000" cy="73152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6" name="Text 0"/>
          <p:cNvSpPr/>
          <p:nvPr>
            <p:ph idx="104" type="body" hasCustomPrompt="1"/>
          </p:nvPr>
        </p:nvSpPr>
        <p:spPr>
          <a:xfrm>
            <a:off x="822960" y="4937760"/>
            <a:ext cx="7315200" cy="365760"/>
          </a:xfrm>
          <a:prstGeom prst="rect">
            <a:avLst/>
          </a:prstGeom>
          <a:noFill/>
          <a:ln/>
        </p:spPr>
        <p:txBody>
          <a:bodyPr wrap="square" rtlCol="0"/>
          <a:lstStyle>
            <a:lvl1pPr algn="l" indent="0" marL="0">
              <a:buNone/>
              <a:defRPr lang="en-US" sz="1400" dirty="0">
                <a:solidFill>
                  <a:schemeClr val="accent4"/>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tri_tl.png">    </p:cNvPr>
          <p:cNvPicPr>
            <a:picLocks noChangeAspect="1"/>
          </p:cNvPicPr>
          <p:nvPr/>
        </p:nvPicPr>
        <p:blipFill>
          <a:blip r:embed="rId1"/>
          <a:stretch>
            <a:fillRect/>
          </a:stretch>
        </p:blipFill>
        <p:spPr>
          <a:xfrm>
            <a:off x="0" y="0"/>
            <a:ext cx="1051560" cy="1051560"/>
          </a:xfrm>
          <a:prstGeom prst="rect">
            <a:avLst/>
          </a:prstGeom>
        </p:spPr>
      </p:pic>
      <p:pic>
        <p:nvPicPr>
          <p:cNvPr id="3" name="Image 1" descr="tri_br.png">    </p:cNvPr>
          <p:cNvPicPr>
            <a:picLocks noChangeAspect="1"/>
          </p:cNvPicPr>
          <p:nvPr/>
        </p:nvPicPr>
        <p:blipFill>
          <a:blip r:embed="rId2"/>
          <a:stretch>
            <a:fillRect/>
          </a:stretch>
        </p:blipFill>
        <p:spPr>
          <a:xfrm>
            <a:off x="11137392" y="5806440"/>
            <a:ext cx="1051560" cy="1051560"/>
          </a:xfrm>
          <a:prstGeom prst="rect">
            <a:avLst/>
          </a:prstGeom>
        </p:spPr>
      </p:pic>
      <p:sp>
        <p:nvSpPr>
          <p:cNvPr id="4" name="Text 0"/>
          <p:cNvSpPr/>
          <p:nvPr>
            <p:ph idx="102" type="body" hasCustomPrompt="1"/>
          </p:nvPr>
        </p:nvSpPr>
        <p:spPr>
          <a:xfrm>
            <a:off x="822960" y="347472"/>
            <a:ext cx="9601200" cy="237744"/>
          </a:xfrm>
          <a:prstGeom prst="rect">
            <a:avLst/>
          </a:prstGeom>
          <a:noFill/>
          <a:ln/>
        </p:spPr>
        <p:txBody>
          <a:bodyPr wrap="square" rtlCol="0"/>
          <a:lstStyle>
            <a:lvl1pPr algn="l" indent="0" marL="0">
              <a:buNone/>
              <a:defRPr lang="en-US" sz="1100" b="1" dirty="0">
                <a:solidFill>
                  <a:schemeClr val="accent1"/>
                </a:solidFill>
              </a:defRPr>
            </a:lvl1pPr>
          </a:lstStyle>
          <a:p>
            <a:pPr algn="l" indent="0" marL="0">
              <a:buNone/>
            </a:pPr>
            <a:endParaRPr lang="en-US" sz="1100" dirty="0"/>
          </a:p>
        </p:txBody>
      </p:sp>
      <p:sp>
        <p:nvSpPr>
          <p:cNvPr id="5" name="Text 0"/>
          <p:cNvSpPr/>
          <p:nvPr>
            <p:ph idx="103" type="title" hasCustomPrompt="1"/>
          </p:nvPr>
        </p:nvSpPr>
        <p:spPr>
          <a:xfrm>
            <a:off x="822960" y="621792"/>
            <a:ext cx="10085832" cy="502920"/>
          </a:xfrm>
          <a:prstGeom prst="rect">
            <a:avLst/>
          </a:prstGeom>
          <a:noFill/>
          <a:ln/>
        </p:spPr>
        <p:txBody>
          <a:bodyPr wrap="square" rtlCol="0"/>
          <a:lstStyle>
            <a:lvl1pPr algn="l" indent="0" marL="0">
              <a:buNone/>
              <a:defRPr lang="en-US" sz="2600" b="1" dirty="0">
                <a:solidFill>
                  <a:schemeClr val="tx1"/>
                </a:solidFill>
              </a:defRPr>
            </a:lvl1pPr>
          </a:lstStyle>
          <a:p>
            <a:pPr algn="l" indent="0" marL="0">
              <a:buNone/>
            </a:pPr>
            <a:endParaRPr lang="en-US" sz="2600" dirty="0"/>
          </a:p>
        </p:txBody>
      </p:sp>
      <p:sp>
        <p:nvSpPr>
          <p:cNvPr id="6" name="Text 0"/>
          <p:cNvSpPr/>
          <p:nvPr>
            <p:ph idx="104" type="body" hasCustomPrompt="1"/>
          </p:nvPr>
        </p:nvSpPr>
        <p:spPr>
          <a:xfrm>
            <a:off x="822960" y="1115568"/>
            <a:ext cx="10085832" cy="310896"/>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2" type="title" hasCustomPrompt="1"/>
          </p:nvPr>
        </p:nvSpPr>
        <p:spPr>
          <a:xfrm>
            <a:off x="822960" y="2286000"/>
            <a:ext cx="9875520" cy="1554480"/>
          </a:xfrm>
          <a:prstGeom prst="rect">
            <a:avLst/>
          </a:prstGeom>
          <a:noFill/>
          <a:ln/>
        </p:spPr>
        <p:txBody>
          <a:bodyPr wrap="square" lIns="0" tIns="0" rIns="0" bIns="0" rtlCol="0" anchor="t"/>
          <a:lstStyle/>
          <a:p>
            <a:pPr algn="l" indent="0" marL="0">
              <a:buNone/>
            </a:pPr>
            <a:r>
              <a:rPr lang="en-US" sz="3800" b="1" dirty="0">
                <a:solidFill>
                  <a:schemeClr val="tx1"/>
                </a:solidFill>
              </a:rPr>
              <a:t>KIỂM CHỨNG TÍNH NHẤT QUÁN CỦA 6 PERSONA AGENTS TRÊN FACEBOOK</a:t>
            </a:r>
            <a:endParaRPr lang="en-US" sz="3800" dirty="0"/>
          </a:p>
        </p:txBody>
      </p:sp>
      <p:sp>
        <p:nvSpPr>
          <p:cNvPr id="3" name="Text 0"/>
          <p:cNvSpPr/>
          <p:nvPr>
            <p:ph idx="103" type="body" hasCustomPrompt="1"/>
          </p:nvPr>
        </p:nvSpPr>
        <p:spPr>
          <a:xfrm>
            <a:off x="822960" y="4023360"/>
            <a:ext cx="9144000" cy="731520"/>
          </a:xfrm>
          <a:prstGeom prst="rect">
            <a:avLst/>
          </a:prstGeom>
          <a:noFill/>
          <a:ln/>
        </p:spPr>
        <p:txBody>
          <a:bodyPr wrap="square" lIns="0" tIns="0" rIns="0" bIns="0" rtlCol="0" anchor="t"/>
          <a:lstStyle/>
          <a:p>
            <a:pPr algn="l" indent="0" marL="0">
              <a:buNone/>
            </a:pPr>
            <a:r>
              <a:rPr lang="en-US" sz="2000" dirty="0">
                <a:solidFill>
                  <a:schemeClr val="tx2"/>
                </a:solidFill>
              </a:rPr>
              <a:t>Tầng vận hành (H₁) và tầng hành vi &amp; nhận thức (H₂)</a:t>
            </a:r>
            <a:endParaRPr lang="en-US" sz="2000" dirty="0"/>
          </a:p>
        </p:txBody>
      </p:sp>
      <p:sp>
        <p:nvSpPr>
          <p:cNvPr id="4" name="Text 0"/>
          <p:cNvSpPr/>
          <p:nvPr>
            <p:ph idx="104" type="body" hasCustomPrompt="1"/>
          </p:nvPr>
        </p:nvSpPr>
        <p:spPr>
          <a:xfrm>
            <a:off x="822960" y="4937760"/>
            <a:ext cx="7315200" cy="365760"/>
          </a:xfrm>
          <a:prstGeom prst="rect">
            <a:avLst/>
          </a:prstGeom>
          <a:noFill/>
          <a:ln/>
        </p:spPr>
        <p:txBody>
          <a:bodyPr wrap="square" lIns="0" tIns="0" rIns="0" bIns="0" rtlCol="0" anchor="t"/>
          <a:lstStyle/>
          <a:p>
            <a:pPr algn="l" indent="0" marL="0">
              <a:buNone/>
            </a:pPr>
            <a:r>
              <a:rPr lang="en-US" sz="1400" dirty="0">
                <a:solidFill>
                  <a:schemeClr val="accent4"/>
                </a:solidFill>
              </a:rPr>
              <a:t>Báo cáo nội bộ nhóm · 10/2026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NỘI DUNG</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CẤU TRÚC BÁO CÁO</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Hai tầng kiểm chứng: lịch trình sinh hoạt và hành vi &amp; nhận thức</a:t>
            </a:r>
            <a:endParaRPr lang="en-US" sz="1600" dirty="0"/>
          </a:p>
        </p:txBody>
      </p:sp>
      <p:sp>
        <p:nvSpPr>
          <p:cNvPr id="6" name="Số phần 0"/>
          <p:cNvSpPr txBox="1"/>
          <p:nvPr/>
        </p:nvSpPr>
        <p:spPr>
          <a:xfrm>
            <a:off x="822960" y="1783080"/>
            <a:ext cx="822960" cy="731520"/>
          </a:xfrm>
          <a:prstGeom prst="rect">
            <a:avLst/>
          </a:prstGeom>
          <a:noFill/>
          <a:ln/>
        </p:spPr>
        <p:txBody>
          <a:bodyPr wrap="square" lIns="0" tIns="0" rIns="0" bIns="0" rtlCol="0" anchor="t"/>
          <a:lstStyle/>
          <a:p>
            <a:pPr indent="0" marL="0">
              <a:buNone/>
            </a:pPr>
            <a:r>
              <a:rPr lang="en-US" sz="4400" b="1" dirty="0">
                <a:solidFill>
                  <a:schemeClr val="accent1"/>
                </a:solidFill>
              </a:rPr>
              <a:t>0</a:t>
            </a:r>
            <a:endParaRPr lang="en-US" sz="4400" dirty="0"/>
          </a:p>
        </p:txBody>
      </p:sp>
      <p:sp>
        <p:nvSpPr>
          <p:cNvPr id="7" name="Tên phần 0"/>
          <p:cNvSpPr txBox="1"/>
          <p:nvPr/>
        </p:nvSpPr>
        <p:spPr>
          <a:xfrm>
            <a:off x="1920240" y="1801368"/>
            <a:ext cx="8778240" cy="822960"/>
          </a:xfrm>
          <a:prstGeom prst="rect">
            <a:avLst/>
          </a:prstGeom>
          <a:noFill/>
          <a:ln/>
        </p:spPr>
        <p:txBody>
          <a:bodyPr wrap="square" lIns="0" tIns="0" rIns="0" bIns="0" rtlCol="0" anchor="t"/>
          <a:lstStyle/>
          <a:p>
            <a:pPr indent="0" marL="0">
              <a:buNone/>
            </a:pPr>
            <a:r>
              <a:rPr lang="en-US" sz="2200" b="1" dirty="0">
                <a:solidFill>
                  <a:schemeClr val="tx1"/>
                </a:solidFill>
              </a:rPr>
              <a:t>Đặt bài toán &amp; bộ dữ liệu</a:t>
            </a:r>
            <a:endParaRPr lang="en-US" sz="2200" dirty="0"/>
          </a:p>
          <a:p>
            <a:pPr indent="0" marL="0">
              <a:buNone/>
            </a:pPr>
            <a:r>
              <a:rPr lang="en-US" sz="1600" dirty="0">
                <a:solidFill>
                  <a:schemeClr val="accent4"/>
                </a:solidFill>
              </a:rPr>
              <a:t>Khung thử nghiệm 6 Persona Agents trên Facebook thực tế</a:t>
            </a:r>
            <a:endParaRPr lang="en-US" sz="2200" dirty="0"/>
          </a:p>
        </p:txBody>
      </p:sp>
      <p:sp>
        <p:nvSpPr>
          <p:cNvPr id="8" name="Số phần 1"/>
          <p:cNvSpPr txBox="1"/>
          <p:nvPr/>
        </p:nvSpPr>
        <p:spPr>
          <a:xfrm>
            <a:off x="822960" y="2807208"/>
            <a:ext cx="822960" cy="731520"/>
          </a:xfrm>
          <a:prstGeom prst="rect">
            <a:avLst/>
          </a:prstGeom>
          <a:noFill/>
          <a:ln/>
        </p:spPr>
        <p:txBody>
          <a:bodyPr wrap="square" lIns="0" tIns="0" rIns="0" bIns="0" rtlCol="0" anchor="t"/>
          <a:lstStyle/>
          <a:p>
            <a:pPr indent="0" marL="0">
              <a:buNone/>
            </a:pPr>
            <a:r>
              <a:rPr lang="en-US" sz="4400" b="1" dirty="0">
                <a:solidFill>
                  <a:schemeClr val="accent1"/>
                </a:solidFill>
              </a:rPr>
              <a:t>1</a:t>
            </a:r>
            <a:endParaRPr lang="en-US" sz="4400" dirty="0"/>
          </a:p>
        </p:txBody>
      </p:sp>
      <p:sp>
        <p:nvSpPr>
          <p:cNvPr id="9" name="Tên phần 1"/>
          <p:cNvSpPr txBox="1"/>
          <p:nvPr/>
        </p:nvSpPr>
        <p:spPr>
          <a:xfrm>
            <a:off x="1920240" y="2825496"/>
            <a:ext cx="8778240" cy="822960"/>
          </a:xfrm>
          <a:prstGeom prst="rect">
            <a:avLst/>
          </a:prstGeom>
          <a:noFill/>
          <a:ln/>
        </p:spPr>
        <p:txBody>
          <a:bodyPr wrap="square" lIns="0" tIns="0" rIns="0" bIns="0" rtlCol="0" anchor="t"/>
          <a:lstStyle/>
          <a:p>
            <a:pPr indent="0" marL="0">
              <a:buNone/>
            </a:pPr>
            <a:r>
              <a:rPr lang="en-US" sz="2200" b="1" dirty="0">
                <a:solidFill>
                  <a:schemeClr val="tx1"/>
                </a:solidFill>
              </a:rPr>
              <a:t>Tầng vận hành (H₁)</a:t>
            </a:r>
            <a:endParaRPr lang="en-US" sz="2200" dirty="0"/>
          </a:p>
          <a:p>
            <a:pPr indent="0" marL="0">
              <a:buNone/>
            </a:pPr>
            <a:r>
              <a:rPr lang="en-US" sz="1600" dirty="0">
                <a:solidFill>
                  <a:schemeClr val="accent4"/>
                </a:solidFill>
              </a:rPr>
              <a:t>Lịch trình &amp; thời lượng: khung giờ sinh hoạt, tần suất online, độ dài phiên</a:t>
            </a:r>
            <a:endParaRPr lang="en-US" sz="2200" dirty="0"/>
          </a:p>
        </p:txBody>
      </p:sp>
      <p:sp>
        <p:nvSpPr>
          <p:cNvPr id="10" name="Số phần 2"/>
          <p:cNvSpPr txBox="1"/>
          <p:nvPr/>
        </p:nvSpPr>
        <p:spPr>
          <a:xfrm>
            <a:off x="822960" y="3831336"/>
            <a:ext cx="822960" cy="73152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p:txBody>
      </p:sp>
      <p:sp>
        <p:nvSpPr>
          <p:cNvPr id="11" name="Tên phần 2"/>
          <p:cNvSpPr txBox="1"/>
          <p:nvPr/>
        </p:nvSpPr>
        <p:spPr>
          <a:xfrm>
            <a:off x="1920240" y="3849624"/>
            <a:ext cx="8778240" cy="822960"/>
          </a:xfrm>
          <a:prstGeom prst="rect">
            <a:avLst/>
          </a:prstGeom>
          <a:noFill/>
          <a:ln/>
        </p:spPr>
        <p:txBody>
          <a:bodyPr wrap="square" lIns="0" tIns="0" rIns="0" bIns="0" rtlCol="0" anchor="t"/>
          <a:lstStyle/>
          <a:p>
            <a:pPr indent="0" marL="0">
              <a:buNone/>
            </a:pPr>
            <a:r>
              <a:rPr lang="en-US" sz="2200" b="1" dirty="0">
                <a:solidFill>
                  <a:schemeClr val="tx1"/>
                </a:solidFill>
              </a:rPr>
              <a:t>Tầng hành vi &amp; nhận thức (H₂)</a:t>
            </a:r>
            <a:endParaRPr lang="en-US" sz="2200" dirty="0"/>
          </a:p>
          <a:p>
            <a:pPr indent="0" marL="0">
              <a:buNone/>
            </a:pPr>
            <a:r>
              <a:rPr lang="en-US" sz="1600" dirty="0">
                <a:solidFill>
                  <a:schemeClr val="accent4"/>
                </a:solidFill>
              </a:rPr>
              <a:t>Tính nhất quán với hồ sơ: phong cách tương tác, động lực nhận thức, bộ nhớ, chuỗi thao tác</a:t>
            </a:r>
            <a:endParaRPr lang="en-US" sz="2200" dirty="0"/>
          </a:p>
        </p:txBody>
      </p:sp>
      <p:sp>
        <p:nvSpPr>
          <p:cNvPr id="12" name="Số phần 3"/>
          <p:cNvSpPr txBox="1"/>
          <p:nvPr/>
        </p:nvSpPr>
        <p:spPr>
          <a:xfrm>
            <a:off x="822960" y="4855464"/>
            <a:ext cx="822960" cy="731520"/>
          </a:xfrm>
          <a:prstGeom prst="rect">
            <a:avLst/>
          </a:prstGeom>
          <a:noFill/>
          <a:ln/>
        </p:spPr>
        <p:txBody>
          <a:bodyPr wrap="square" lIns="0" tIns="0" rIns="0" bIns="0" rtlCol="0" anchor="t"/>
          <a:lstStyle/>
          <a:p>
            <a:pPr indent="0" marL="0">
              <a:buNone/>
            </a:pPr>
            <a:r>
              <a:rPr lang="en-US" sz="4400" b="1" dirty="0">
                <a:solidFill>
                  <a:schemeClr val="accent1"/>
                </a:solidFill>
              </a:rPr>
              <a:t>3</a:t>
            </a:r>
            <a:endParaRPr lang="en-US" sz="4400" dirty="0"/>
          </a:p>
        </p:txBody>
      </p:sp>
      <p:sp>
        <p:nvSpPr>
          <p:cNvPr id="13" name="Tên phần 3"/>
          <p:cNvSpPr txBox="1"/>
          <p:nvPr/>
        </p:nvSpPr>
        <p:spPr>
          <a:xfrm>
            <a:off x="1920240" y="4873752"/>
            <a:ext cx="8778240" cy="822960"/>
          </a:xfrm>
          <a:prstGeom prst="rect">
            <a:avLst/>
          </a:prstGeom>
          <a:noFill/>
          <a:ln/>
        </p:spPr>
        <p:txBody>
          <a:bodyPr wrap="square" lIns="0" tIns="0" rIns="0" bIns="0" rtlCol="0" anchor="t"/>
          <a:lstStyle/>
          <a:p>
            <a:pPr indent="0" marL="0">
              <a:buNone/>
            </a:pPr>
            <a:r>
              <a:rPr lang="en-US" sz="2200" b="1" dirty="0">
                <a:solidFill>
                  <a:schemeClr val="tx1"/>
                </a:solidFill>
              </a:rPr>
              <a:t>Tổng kết &amp; ứng dụng</a:t>
            </a:r>
            <a:endParaRPr lang="en-US" sz="2200" dirty="0"/>
          </a:p>
          <a:p>
            <a:pPr indent="0" marL="0">
              <a:buNone/>
            </a:pPr>
            <a:r>
              <a:rPr lang="en-US" sz="1600" dirty="0">
                <a:solidFill>
                  <a:schemeClr val="accent4"/>
                </a:solidFill>
              </a:rPr>
              <a:t>Kết luận H₁–H₂, hạn chế và hướng tiếp theo</a:t>
            </a:r>
            <a:endParaRPr lang="en-US" sz="22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0 · ĐẶT BÀI TOÁN</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KHUNG THỬ NGHIỆM</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Khảo sát hành vi của 6 Autonomous Persona Agents trên môi trường Facebook thực tế</a:t>
            </a:r>
            <a:endParaRPr lang="en-US" sz="1600" dirty="0"/>
          </a:p>
        </p:txBody>
      </p:sp>
      <p:sp>
        <p:nvSpPr>
          <p:cNvPr id="6" name="Gạch đỏ 1"/>
          <p:cNvSpPr/>
          <p:nvPr/>
        </p:nvSpPr>
        <p:spPr>
          <a:xfrm>
            <a:off x="822960" y="1905000"/>
            <a:ext cx="182880" cy="0"/>
          </a:xfrm>
          <a:prstGeom prst="line">
            <a:avLst/>
          </a:prstGeom>
          <a:noFill/>
          <a:ln w="31750">
            <a:solidFill>
              <a:schemeClr val="accent1"/>
            </a:solidFill>
            <a:prstDash val="solid"/>
          </a:ln>
        </p:spPr>
      </p:sp>
      <p:sp>
        <p:nvSpPr>
          <p:cNvPr id="7" name="Mục 1"/>
          <p:cNvSpPr txBox="1"/>
          <p:nvPr/>
        </p:nvSpPr>
        <p:spPr>
          <a:xfrm>
            <a:off x="1143000" y="1783080"/>
            <a:ext cx="5715000" cy="493776"/>
          </a:xfrm>
          <a:prstGeom prst="rect">
            <a:avLst/>
          </a:prstGeom>
          <a:noFill/>
          <a:ln/>
        </p:spPr>
        <p:txBody>
          <a:bodyPr wrap="square" lIns="0" tIns="0" rIns="0" bIns="0" rtlCol="0" anchor="t"/>
          <a:lstStyle/>
          <a:p>
            <a:pPr indent="0" marL="0">
              <a:buNone/>
            </a:pPr>
            <a:r>
              <a:rPr lang="en-US" sz="1600" b="1" dirty="0">
                <a:solidFill>
                  <a:schemeClr val="tx1"/>
                </a:solidFill>
              </a:rPr>
              <a:t>Tầng 1 (H₁): lịch trình sinh hoạt</a:t>
            </a:r>
            <a:endParaRPr lang="en-US" sz="1600" dirty="0"/>
          </a:p>
          <a:p>
            <a:pPr indent="0" marL="0">
              <a:buNone/>
            </a:pPr>
            <a:r>
              <a:rPr lang="en-US" sz="1400" dirty="0">
                <a:solidFill>
                  <a:schemeClr val="accent4"/>
                </a:solidFill>
              </a:rPr>
              <a:t>Vào mạng đúng giờ, đúng nhịp sinh học và đặc thù công việc</a:t>
            </a:r>
            <a:endParaRPr lang="en-US" sz="1600" dirty="0"/>
          </a:p>
        </p:txBody>
      </p:sp>
      <p:sp>
        <p:nvSpPr>
          <p:cNvPr id="8" name="Gạch đỏ 2"/>
          <p:cNvSpPr/>
          <p:nvPr/>
        </p:nvSpPr>
        <p:spPr>
          <a:xfrm>
            <a:off x="822960" y="2673096"/>
            <a:ext cx="182880" cy="0"/>
          </a:xfrm>
          <a:prstGeom prst="line">
            <a:avLst/>
          </a:prstGeom>
          <a:noFill/>
          <a:ln w="31750">
            <a:solidFill>
              <a:schemeClr val="accent1"/>
            </a:solidFill>
            <a:prstDash val="solid"/>
          </a:ln>
        </p:spPr>
      </p:sp>
      <p:sp>
        <p:nvSpPr>
          <p:cNvPr id="9" name="Mục 2"/>
          <p:cNvSpPr txBox="1"/>
          <p:nvPr/>
        </p:nvSpPr>
        <p:spPr>
          <a:xfrm>
            <a:off x="1143000" y="2551176"/>
            <a:ext cx="5715000" cy="493776"/>
          </a:xfrm>
          <a:prstGeom prst="rect">
            <a:avLst/>
          </a:prstGeom>
          <a:noFill/>
          <a:ln/>
        </p:spPr>
        <p:txBody>
          <a:bodyPr wrap="square" lIns="0" tIns="0" rIns="0" bIns="0" rtlCol="0" anchor="t"/>
          <a:lstStyle/>
          <a:p>
            <a:pPr indent="0" marL="0">
              <a:buNone/>
            </a:pPr>
            <a:r>
              <a:rPr lang="en-US" sz="1600" b="1" dirty="0">
                <a:solidFill>
                  <a:schemeClr val="tx1"/>
                </a:solidFill>
              </a:rPr>
              <a:t>Tầng 2 (H₂): hành vi &amp; nhận thức</a:t>
            </a:r>
            <a:endParaRPr lang="en-US" sz="1600" dirty="0"/>
          </a:p>
          <a:p>
            <a:pPr indent="0" marL="0">
              <a:buNone/>
            </a:pPr>
            <a:r>
              <a:rPr lang="en-US" sz="1400" dirty="0">
                <a:solidFill>
                  <a:schemeClr val="accent4"/>
                </a:solidFill>
              </a:rPr>
              <a:t>Lướt, đọc, tương tác nhất quán với hồ sơ nhân vật</a:t>
            </a:r>
            <a:endParaRPr lang="en-US" sz="1600" dirty="0"/>
          </a:p>
        </p:txBody>
      </p:sp>
      <p:sp>
        <p:nvSpPr>
          <p:cNvPr id="10" name="Khung câu hỏi"/>
          <p:cNvSpPr/>
          <p:nvPr/>
        </p:nvSpPr>
        <p:spPr>
          <a:xfrm>
            <a:off x="822960" y="3566160"/>
            <a:ext cx="6035040" cy="1325880"/>
          </a:xfrm>
          <a:prstGeom prst="rect">
            <a:avLst/>
          </a:prstGeom>
          <a:solidFill>
            <a:schemeClr val="accent3"/>
          </a:solidFill>
          <a:ln/>
        </p:spPr>
      </p:sp>
      <p:sp>
        <p:nvSpPr>
          <p:cNvPr id="11" name="Câu hỏi cốt lõi"/>
          <p:cNvSpPr txBox="1"/>
          <p:nvPr/>
        </p:nvSpPr>
        <p:spPr>
          <a:xfrm>
            <a:off x="1097280" y="3721608"/>
            <a:ext cx="5486400" cy="1097280"/>
          </a:xfrm>
          <a:prstGeom prst="rect">
            <a:avLst/>
          </a:prstGeom>
          <a:noFill/>
          <a:ln/>
        </p:spPr>
        <p:txBody>
          <a:bodyPr wrap="square" lIns="0" tIns="0" rIns="0" bIns="0" rtlCol="0" anchor="t"/>
          <a:lstStyle/>
          <a:p>
            <a:pPr indent="0" marL="0">
              <a:buNone/>
            </a:pPr>
            <a:r>
              <a:rPr lang="en-US" sz="1200" b="1" dirty="0">
                <a:solidFill>
                  <a:schemeClr val="accent1"/>
                </a:solidFill>
              </a:rPr>
              <a:t>CÂU HỎI CỐT LÕI</a:t>
            </a:r>
            <a:endParaRPr lang="en-US" sz="1200" dirty="0"/>
          </a:p>
          <a:p>
            <a:pPr indent="0" marL="0">
              <a:buNone/>
            </a:pPr>
            <a:r>
              <a:rPr lang="en-US" sz="1600" dirty="0">
                <a:solidFill>
                  <a:schemeClr val="tx1"/>
                </a:solidFill>
              </a:rPr>
              <a:t>Agent chạy tự do trên Facebook thật có giữ được tính nhất quán với hồ sơ nhân vật, hay hành xử như bot spam ngẫu nhiên?</a:t>
            </a:r>
            <a:endParaRPr lang="en-US" sz="1200" dirty="0"/>
          </a:p>
        </p:txBody>
      </p:sp>
      <p:sp>
        <p:nvSpPr>
          <p:cNvPr id="12" name="Số liệu 1"/>
          <p:cNvSpPr txBox="1"/>
          <p:nvPr/>
        </p:nvSpPr>
        <p:spPr>
          <a:xfrm>
            <a:off x="7772400" y="1691640"/>
            <a:ext cx="3566160" cy="731520"/>
          </a:xfrm>
          <a:prstGeom prst="rect">
            <a:avLst/>
          </a:prstGeom>
          <a:noFill/>
          <a:ln/>
        </p:spPr>
        <p:txBody>
          <a:bodyPr wrap="square" lIns="0" tIns="0" rIns="0" bIns="0" rtlCol="0" anchor="t"/>
          <a:lstStyle/>
          <a:p>
            <a:pPr indent="0" marL="0">
              <a:buNone/>
            </a:pPr>
            <a:r>
              <a:rPr lang="en-US" sz="4800" b="1" dirty="0">
                <a:solidFill>
                  <a:schemeClr val="accent1"/>
                </a:solidFill>
              </a:rPr>
              <a:t>24</a:t>
            </a:r>
            <a:endParaRPr lang="en-US" sz="4800" dirty="0"/>
          </a:p>
        </p:txBody>
      </p:sp>
      <p:sp>
        <p:nvSpPr>
          <p:cNvPr id="13" name="Nhãn số liệu 1"/>
          <p:cNvSpPr txBox="1"/>
          <p:nvPr/>
        </p:nvSpPr>
        <p:spPr>
          <a:xfrm>
            <a:off x="7772400" y="2441448"/>
            <a:ext cx="3566160" cy="365760"/>
          </a:xfrm>
          <a:prstGeom prst="rect">
            <a:avLst/>
          </a:prstGeom>
          <a:noFill/>
          <a:ln/>
        </p:spPr>
        <p:txBody>
          <a:bodyPr wrap="square" lIns="0" tIns="0" rIns="0" bIns="0" rtlCol="0" anchor="t"/>
          <a:lstStyle/>
          <a:p>
            <a:pPr indent="0" marL="0">
              <a:buNone/>
            </a:pPr>
            <a:r>
              <a:rPr lang="en-US" sz="1400" dirty="0">
                <a:solidFill>
                  <a:schemeClr val="accent4"/>
                </a:solidFill>
              </a:rPr>
              <a:t>phiên chạy thực tế trên trình duyệt</a:t>
            </a:r>
            <a:endParaRPr lang="en-US" sz="1400" dirty="0"/>
          </a:p>
        </p:txBody>
      </p:sp>
      <p:sp>
        <p:nvSpPr>
          <p:cNvPr id="14" name="Số liệu 2"/>
          <p:cNvSpPr txBox="1"/>
          <p:nvPr/>
        </p:nvSpPr>
        <p:spPr>
          <a:xfrm>
            <a:off x="7772400" y="3017520"/>
            <a:ext cx="3566160" cy="731520"/>
          </a:xfrm>
          <a:prstGeom prst="rect">
            <a:avLst/>
          </a:prstGeom>
          <a:noFill/>
          <a:ln/>
        </p:spPr>
        <p:txBody>
          <a:bodyPr wrap="square" lIns="0" tIns="0" rIns="0" bIns="0" rtlCol="0" anchor="t"/>
          <a:lstStyle/>
          <a:p>
            <a:pPr indent="0" marL="0">
              <a:buNone/>
            </a:pPr>
            <a:r>
              <a:rPr lang="en-US" sz="4800" b="1" dirty="0">
                <a:solidFill>
                  <a:schemeClr val="accent1"/>
                </a:solidFill>
              </a:rPr>
              <a:t>95</a:t>
            </a:r>
            <a:endParaRPr lang="en-US" sz="4800" dirty="0"/>
          </a:p>
        </p:txBody>
      </p:sp>
      <p:sp>
        <p:nvSpPr>
          <p:cNvPr id="15" name="Nhãn số liệu 2"/>
          <p:cNvSpPr txBox="1"/>
          <p:nvPr/>
        </p:nvSpPr>
        <p:spPr>
          <a:xfrm>
            <a:off x="7772400" y="3767328"/>
            <a:ext cx="3566160" cy="365760"/>
          </a:xfrm>
          <a:prstGeom prst="rect">
            <a:avLst/>
          </a:prstGeom>
          <a:noFill/>
          <a:ln/>
        </p:spPr>
        <p:txBody>
          <a:bodyPr wrap="square" lIns="0" tIns="0" rIns="0" bIns="0" rtlCol="0" anchor="t"/>
          <a:lstStyle/>
          <a:p>
            <a:pPr indent="0" marL="0">
              <a:buNone/>
            </a:pPr>
            <a:r>
              <a:rPr lang="en-US" sz="1400" dirty="0">
                <a:solidFill>
                  <a:schemeClr val="accent4"/>
                </a:solidFill>
              </a:rPr>
              <a:t>khung giờ trong ngày (daily windows)</a:t>
            </a:r>
            <a:endParaRPr lang="en-US" sz="1400" dirty="0"/>
          </a:p>
        </p:txBody>
      </p:sp>
      <p:sp>
        <p:nvSpPr>
          <p:cNvPr id="16" name="Số liệu 3"/>
          <p:cNvSpPr txBox="1"/>
          <p:nvPr/>
        </p:nvSpPr>
        <p:spPr>
          <a:xfrm>
            <a:off x="7772400" y="4343400"/>
            <a:ext cx="3566160" cy="731520"/>
          </a:xfrm>
          <a:prstGeom prst="rect">
            <a:avLst/>
          </a:prstGeom>
          <a:noFill/>
          <a:ln/>
        </p:spPr>
        <p:txBody>
          <a:bodyPr wrap="square" lIns="0" tIns="0" rIns="0" bIns="0" rtlCol="0" anchor="t"/>
          <a:lstStyle/>
          <a:p>
            <a:pPr indent="0" marL="0">
              <a:buNone/>
            </a:pPr>
            <a:r>
              <a:rPr lang="en-US" sz="4800" b="1" dirty="0">
                <a:solidFill>
                  <a:schemeClr val="accent1"/>
                </a:solidFill>
              </a:rPr>
              <a:t>1,611</a:t>
            </a:r>
            <a:endParaRPr lang="en-US" sz="4800" dirty="0"/>
          </a:p>
        </p:txBody>
      </p:sp>
      <p:sp>
        <p:nvSpPr>
          <p:cNvPr id="17" name="Nhãn số liệu 3"/>
          <p:cNvSpPr txBox="1"/>
          <p:nvPr/>
        </p:nvSpPr>
        <p:spPr>
          <a:xfrm>
            <a:off x="7772400" y="5093208"/>
            <a:ext cx="3566160" cy="365760"/>
          </a:xfrm>
          <a:prstGeom prst="rect">
            <a:avLst/>
          </a:prstGeom>
          <a:noFill/>
          <a:ln/>
        </p:spPr>
        <p:txBody>
          <a:bodyPr wrap="square" lIns="0" tIns="0" rIns="0" bIns="0" rtlCol="0" anchor="t"/>
          <a:lstStyle/>
          <a:p>
            <a:pPr indent="0" marL="0">
              <a:buNone/>
            </a:pPr>
            <a:r>
              <a:rPr lang="en-US" sz="1400" dirty="0">
                <a:solidFill>
                  <a:schemeClr val="accent4"/>
                </a:solidFill>
              </a:rPr>
              <a:t>hành động, kèm chuỗi suy luận (CoT)</a:t>
            </a:r>
            <a:endParaRPr lang="en-US" sz="14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0 · ĐẶT BÀI TOÁN</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6 PERSONA ĐẠI DIỆN</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Sáu nhân vật khác nhau về nghề nghiệp, độ tuổi và vùng miền</a:t>
            </a:r>
            <a:endParaRPr lang="en-US" sz="1600" dirty="0"/>
          </a:p>
        </p:txBody>
      </p:sp>
      <p:sp>
        <p:nvSpPr>
          <p:cNvPr id="6" name="Vị trí ảnh agent_loop"/>
          <p:cNvSpPr/>
          <p:nvPr/>
        </p:nvSpPr>
        <p:spPr>
          <a:xfrm>
            <a:off x="822960" y="1645920"/>
            <a:ext cx="4846320" cy="4114800"/>
          </a:xfrm>
          <a:prstGeom prst="rect">
            <a:avLst/>
          </a:prstGeom>
          <a:solidFill>
            <a:srgbClr val="F8FAFC"/>
          </a:solidFill>
          <a:ln w="15875">
            <a:solidFill>
              <a:srgbClr val="CBD5E1"/>
            </a:solidFill>
            <a:prstDash val="dash"/>
          </a:ln>
        </p:spPr>
      </p:sp>
      <p:sp>
        <p:nvSpPr>
          <p:cNvPr id="7" name="Ghi chú vị trí ảnh"/>
          <p:cNvSpPr txBox="1"/>
          <p:nvPr/>
        </p:nvSpPr>
        <p:spPr>
          <a:xfrm>
            <a:off x="822960" y="3474720"/>
            <a:ext cx="4846320" cy="457200"/>
          </a:xfrm>
          <a:prstGeom prst="rect">
            <a:avLst/>
          </a:prstGeom>
          <a:noFill/>
          <a:ln/>
        </p:spPr>
        <p:txBody>
          <a:bodyPr wrap="square" lIns="0" tIns="0" rIns="0" bIns="0" rtlCol="0" anchor="ctr"/>
          <a:lstStyle/>
          <a:p>
            <a:pPr algn="ctr" indent="0" marL="0">
              <a:buNone/>
            </a:pPr>
            <a:r>
              <a:rPr lang="en-US" sz="1200" dirty="0">
                <a:solidFill>
                  <a:schemeClr val="accent6"/>
                </a:solidFill>
              </a:rPr>
              <a:t>Chèn ảnh vòng lặp Agent (agent_loop.png)</a:t>
            </a:r>
            <a:endParaRPr lang="en-US" sz="1200" dirty="0"/>
          </a:p>
        </p:txBody>
      </p:sp>
      <p:sp>
        <p:nvSpPr>
          <p:cNvPr id="8" name="Thẻ 001"/>
          <p:cNvSpPr/>
          <p:nvPr/>
        </p:nvSpPr>
        <p:spPr>
          <a:xfrm>
            <a:off x="6062472" y="1645920"/>
            <a:ext cx="2560320" cy="1280160"/>
          </a:xfrm>
          <a:prstGeom prst="rect">
            <a:avLst/>
          </a:prstGeom>
          <a:solidFill>
            <a:schemeClr val="bg2"/>
          </a:solidFill>
          <a:ln/>
        </p:spPr>
      </p:sp>
      <p:sp>
        <p:nvSpPr>
          <p:cNvPr id="9" name="Nội dung 001"/>
          <p:cNvSpPr txBox="1"/>
          <p:nvPr/>
        </p:nvSpPr>
        <p:spPr>
          <a:xfrm>
            <a:off x="6199632" y="175564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001  </a:t>
            </a:r>
            <a:pPr indent="0" marL="0">
              <a:buNone/>
            </a:pPr>
            <a:r>
              <a:rPr lang="en-US" sz="1500" b="1" dirty="0">
                <a:solidFill>
                  <a:schemeClr val="tx1"/>
                </a:solidFill>
              </a:rPr>
              <a:t>Thiết kế đồ họa</a:t>
            </a:r>
            <a:endParaRPr lang="en-US" sz="1800" dirty="0"/>
          </a:p>
          <a:p>
            <a:pPr indent="0" marL="0">
              <a:buNone/>
            </a:pPr>
            <a:r>
              <a:rPr lang="en-US" sz="1300" dirty="0">
                <a:solidFill>
                  <a:schemeClr val="tx2"/>
                </a:solidFill>
              </a:rPr>
              <a:t>Nữ, 26 tuổi · TP.HCM</a:t>
            </a:r>
            <a:endParaRPr lang="en-US" sz="1800" dirty="0"/>
          </a:p>
          <a:p>
            <a:pPr indent="0" marL="0">
              <a:buNone/>
            </a:pPr>
            <a:r>
              <a:rPr lang="en-US" sz="1300" dirty="0">
                <a:solidFill>
                  <a:schemeClr val="accent4"/>
                </a:solidFill>
              </a:rPr>
              <a:t>Tư duy logic, cờ vua, kiến trúc AI</a:t>
            </a:r>
            <a:endParaRPr lang="en-US" sz="1800" dirty="0"/>
          </a:p>
        </p:txBody>
      </p:sp>
      <p:sp>
        <p:nvSpPr>
          <p:cNvPr id="10" name="Thẻ 002"/>
          <p:cNvSpPr/>
          <p:nvPr/>
        </p:nvSpPr>
        <p:spPr>
          <a:xfrm>
            <a:off x="8805672" y="1645920"/>
            <a:ext cx="2560320" cy="1280160"/>
          </a:xfrm>
          <a:prstGeom prst="rect">
            <a:avLst/>
          </a:prstGeom>
          <a:solidFill>
            <a:schemeClr val="bg2"/>
          </a:solidFill>
          <a:ln/>
        </p:spPr>
      </p:sp>
      <p:sp>
        <p:nvSpPr>
          <p:cNvPr id="11" name="Nội dung 002"/>
          <p:cNvSpPr txBox="1"/>
          <p:nvPr/>
        </p:nvSpPr>
        <p:spPr>
          <a:xfrm>
            <a:off x="8942832" y="175564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002  </a:t>
            </a:r>
            <a:pPr indent="0" marL="0">
              <a:buNone/>
            </a:pPr>
            <a:r>
              <a:rPr lang="en-US" sz="1500" b="1" dirty="0">
                <a:solidFill>
                  <a:schemeClr val="tx1"/>
                </a:solidFill>
              </a:rPr>
              <a:t>Lao động tự do</a:t>
            </a:r>
            <a:endParaRPr lang="en-US" sz="1800" dirty="0"/>
          </a:p>
          <a:p>
            <a:pPr indent="0" marL="0">
              <a:buNone/>
            </a:pPr>
            <a:r>
              <a:rPr lang="en-US" sz="1300" dirty="0">
                <a:solidFill>
                  <a:schemeClr val="tx2"/>
                </a:solidFill>
              </a:rPr>
              <a:t>Nữ, 42 tuổi · Nghệ An</a:t>
            </a:r>
            <a:endParaRPr lang="en-US" sz="1800" dirty="0"/>
          </a:p>
          <a:p>
            <a:pPr indent="0" marL="0">
              <a:buNone/>
            </a:pPr>
            <a:r>
              <a:rPr lang="en-US" sz="1300" dirty="0">
                <a:solidFill>
                  <a:schemeClr val="accent4"/>
                </a:solidFill>
              </a:rPr>
              <a:t>Gia đình, tâm linh Phật giáo</a:t>
            </a:r>
            <a:endParaRPr lang="en-US" sz="1800" dirty="0"/>
          </a:p>
        </p:txBody>
      </p:sp>
      <p:sp>
        <p:nvSpPr>
          <p:cNvPr id="12" name="Thẻ 003"/>
          <p:cNvSpPr/>
          <p:nvPr/>
        </p:nvSpPr>
        <p:spPr>
          <a:xfrm>
            <a:off x="6062472" y="3063240"/>
            <a:ext cx="2560320" cy="1280160"/>
          </a:xfrm>
          <a:prstGeom prst="rect">
            <a:avLst/>
          </a:prstGeom>
          <a:solidFill>
            <a:schemeClr val="bg2"/>
          </a:solidFill>
          <a:ln/>
        </p:spPr>
      </p:sp>
      <p:sp>
        <p:nvSpPr>
          <p:cNvPr id="13" name="Nội dung 003"/>
          <p:cNvSpPr txBox="1"/>
          <p:nvPr/>
        </p:nvSpPr>
        <p:spPr>
          <a:xfrm>
            <a:off x="6199632" y="317296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003  </a:t>
            </a:r>
            <a:pPr indent="0" marL="0">
              <a:buNone/>
            </a:pPr>
            <a:r>
              <a:rPr lang="en-US" sz="1500" b="1" dirty="0">
                <a:solidFill>
                  <a:schemeClr val="tx1"/>
                </a:solidFill>
              </a:rPr>
              <a:t>Bảo vệ trực ca</a:t>
            </a:r>
            <a:endParaRPr lang="en-US" sz="1800" dirty="0"/>
          </a:p>
          <a:p>
            <a:pPr indent="0" marL="0">
              <a:buNone/>
            </a:pPr>
            <a:r>
              <a:rPr lang="en-US" sz="1300" dirty="0">
                <a:solidFill>
                  <a:schemeClr val="tx2"/>
                </a:solidFill>
              </a:rPr>
              <a:t>Nam, 28 tuổi · Đà Nẵng</a:t>
            </a:r>
            <a:endParaRPr lang="en-US" sz="1800" dirty="0"/>
          </a:p>
          <a:p>
            <a:pPr indent="0" marL="0">
              <a:buNone/>
            </a:pPr>
            <a:r>
              <a:rPr lang="en-US" sz="1300" dirty="0">
                <a:solidFill>
                  <a:schemeClr val="accent4"/>
                </a:solidFill>
              </a:rPr>
              <a:t>Trực đêm, ẩm thực đường phố, thích bình luận</a:t>
            </a:r>
            <a:endParaRPr lang="en-US" sz="1800" dirty="0"/>
          </a:p>
        </p:txBody>
      </p:sp>
      <p:sp>
        <p:nvSpPr>
          <p:cNvPr id="14" name="Thẻ 004"/>
          <p:cNvSpPr/>
          <p:nvPr/>
        </p:nvSpPr>
        <p:spPr>
          <a:xfrm>
            <a:off x="8805672" y="3063240"/>
            <a:ext cx="2560320" cy="1280160"/>
          </a:xfrm>
          <a:prstGeom prst="rect">
            <a:avLst/>
          </a:prstGeom>
          <a:solidFill>
            <a:schemeClr val="bg2"/>
          </a:solidFill>
          <a:ln/>
        </p:spPr>
      </p:sp>
      <p:sp>
        <p:nvSpPr>
          <p:cNvPr id="15" name="Nội dung 004"/>
          <p:cNvSpPr txBox="1"/>
          <p:nvPr/>
        </p:nvSpPr>
        <p:spPr>
          <a:xfrm>
            <a:off x="8942832" y="317296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004  </a:t>
            </a:r>
            <a:pPr indent="0" marL="0">
              <a:buNone/>
            </a:pPr>
            <a:r>
              <a:rPr lang="en-US" sz="1500" b="1" dirty="0">
                <a:solidFill>
                  <a:schemeClr val="tx1"/>
                </a:solidFill>
              </a:rPr>
              <a:t>Phục vụ nhà hàng</a:t>
            </a:r>
            <a:endParaRPr lang="en-US" sz="1800" dirty="0"/>
          </a:p>
          <a:p>
            <a:pPr indent="0" marL="0">
              <a:buNone/>
            </a:pPr>
            <a:r>
              <a:rPr lang="en-US" sz="1300" dirty="0">
                <a:solidFill>
                  <a:schemeClr val="tx2"/>
                </a:solidFill>
              </a:rPr>
              <a:t>Nam, 22 tuổi · TP.HCM</a:t>
            </a:r>
            <a:endParaRPr lang="en-US" sz="1800" dirty="0"/>
          </a:p>
          <a:p>
            <a:pPr indent="0" marL="0">
              <a:buNone/>
            </a:pPr>
            <a:r>
              <a:rPr lang="en-US" sz="1300" dirty="0">
                <a:solidFill>
                  <a:schemeClr val="accent4"/>
                </a:solidFill>
              </a:rPr>
              <a:t>Lệch ca, thích Reels và bóng đá</a:t>
            </a:r>
            <a:endParaRPr lang="en-US" sz="1800" dirty="0"/>
          </a:p>
        </p:txBody>
      </p:sp>
      <p:sp>
        <p:nvSpPr>
          <p:cNvPr id="16" name="Thẻ 005"/>
          <p:cNvSpPr/>
          <p:nvPr/>
        </p:nvSpPr>
        <p:spPr>
          <a:xfrm>
            <a:off x="6062472" y="4480560"/>
            <a:ext cx="2560320" cy="1280160"/>
          </a:xfrm>
          <a:prstGeom prst="rect">
            <a:avLst/>
          </a:prstGeom>
          <a:solidFill>
            <a:schemeClr val="bg2"/>
          </a:solidFill>
          <a:ln/>
        </p:spPr>
      </p:sp>
      <p:sp>
        <p:nvSpPr>
          <p:cNvPr id="17" name="Nội dung 005"/>
          <p:cNvSpPr txBox="1"/>
          <p:nvPr/>
        </p:nvSpPr>
        <p:spPr>
          <a:xfrm>
            <a:off x="6199632" y="459028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005  </a:t>
            </a:r>
            <a:pPr indent="0" marL="0">
              <a:buNone/>
            </a:pPr>
            <a:r>
              <a:rPr lang="en-US" sz="1500" b="1" dirty="0">
                <a:solidFill>
                  <a:schemeClr val="tx1"/>
                </a:solidFill>
              </a:rPr>
              <a:t>Thợ cơ khí</a:t>
            </a:r>
            <a:endParaRPr lang="en-US" sz="1800" dirty="0"/>
          </a:p>
          <a:p>
            <a:pPr indent="0" marL="0">
              <a:buNone/>
            </a:pPr>
            <a:r>
              <a:rPr lang="en-US" sz="1300" dirty="0">
                <a:solidFill>
                  <a:schemeClr val="tx2"/>
                </a:solidFill>
              </a:rPr>
              <a:t>Nam, 31 tuổi · Đà Nẵng</a:t>
            </a:r>
            <a:endParaRPr lang="en-US" sz="1800" dirty="0"/>
          </a:p>
          <a:p>
            <a:pPr indent="0" marL="0">
              <a:buNone/>
            </a:pPr>
            <a:r>
              <a:rPr lang="en-US" sz="1300" dirty="0">
                <a:solidFill>
                  <a:schemeClr val="accent4"/>
                </a:solidFill>
              </a:rPr>
              <a:t>Kỹ thuật, thiên văn, lịch sử</a:t>
            </a:r>
            <a:endParaRPr lang="en-US" sz="1800" dirty="0"/>
          </a:p>
        </p:txBody>
      </p:sp>
      <p:sp>
        <p:nvSpPr>
          <p:cNvPr id="18" name="Thẻ 006"/>
          <p:cNvSpPr/>
          <p:nvPr/>
        </p:nvSpPr>
        <p:spPr>
          <a:xfrm>
            <a:off x="8805672" y="4480560"/>
            <a:ext cx="2560320" cy="1280160"/>
          </a:xfrm>
          <a:prstGeom prst="rect">
            <a:avLst/>
          </a:prstGeom>
          <a:solidFill>
            <a:schemeClr val="bg2"/>
          </a:solidFill>
          <a:ln/>
        </p:spPr>
      </p:sp>
      <p:sp>
        <p:nvSpPr>
          <p:cNvPr id="19" name="Nội dung 006"/>
          <p:cNvSpPr txBox="1"/>
          <p:nvPr/>
        </p:nvSpPr>
        <p:spPr>
          <a:xfrm>
            <a:off x="8942832" y="4590288"/>
            <a:ext cx="2286000" cy="1097280"/>
          </a:xfrm>
          <a:prstGeom prst="rect">
            <a:avLst/>
          </a:prstGeom>
          <a:noFill/>
          <a:ln/>
        </p:spPr>
        <p:txBody>
          <a:bodyPr wrap="square" lIns="0" tIns="0" rIns="0" bIns="0" rtlCol="0" anchor="t"/>
          <a:lstStyle/>
          <a:p>
            <a:pPr indent="0" marL="0">
              <a:buNone/>
            </a:pPr>
            <a:r>
              <a:rPr lang="en-US" sz="1800" b="1" dirty="0">
                <a:solidFill>
                  <a:schemeClr val="accent1"/>
                </a:solidFill>
              </a:rPr>
              <a:t>006  </a:t>
            </a:r>
            <a:pPr indent="0" marL="0">
              <a:buNone/>
            </a:pPr>
            <a:r>
              <a:rPr lang="en-US" sz="1500" b="1" dirty="0">
                <a:solidFill>
                  <a:schemeClr val="tx1"/>
                </a:solidFill>
              </a:rPr>
              <a:t>Kinh doanh BĐS</a:t>
            </a:r>
            <a:endParaRPr lang="en-US" sz="1800" dirty="0"/>
          </a:p>
          <a:p>
            <a:pPr indent="0" marL="0">
              <a:buNone/>
            </a:pPr>
            <a:r>
              <a:rPr lang="en-US" sz="1300" dirty="0">
                <a:solidFill>
                  <a:schemeClr val="tx2"/>
                </a:solidFill>
              </a:rPr>
              <a:t>Nam, 52 tuổi · Cần Thơ</a:t>
            </a:r>
            <a:endParaRPr lang="en-US" sz="1800" dirty="0"/>
          </a:p>
          <a:p>
            <a:pPr indent="0" marL="0">
              <a:buNone/>
            </a:pPr>
            <a:r>
              <a:rPr lang="en-US" sz="1300" dirty="0">
                <a:solidFill>
                  <a:schemeClr val="accent4"/>
                </a:solidFill>
              </a:rPr>
              <a:t>Gen X thận trọng, khảo sát giá nhà đất</a:t>
            </a:r>
            <a:endParaRPr lang="en-US" sz="18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1.1 · TẦNG VẬN HÀNH (H₁)</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PHÂN BỔ 4 KHUNG GIỜ SINH HOẠT</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Ca tối và ca sáng chiếm gần 70% phiên; khung 23h–06h không có phiên nào</a:t>
            </a:r>
            <a:endParaRPr lang="en-US" sz="1600" dirty="0"/>
          </a:p>
        </p:txBody>
      </p:sp>
      <p:pic>
        <p:nvPicPr>
          <p:cNvPr id="6" name="Image 0" descr="Phân bổ phiên theo giờ và theo ca của từng persona">    </p:cNvPr>
          <p:cNvPicPr>
            <a:picLocks noChangeAspect="1"/>
          </p:cNvPicPr>
          <p:nvPr/>
        </p:nvPicPr>
        <p:blipFill>
          <a:blip r:embed="rId1"/>
          <a:stretch>
            <a:fillRect/>
          </a:stretch>
        </p:blipFill>
        <p:spPr>
          <a:xfrm>
            <a:off x="822960" y="1600200"/>
            <a:ext cx="7772400" cy="4048125"/>
          </a:xfrm>
          <a:prstGeom prst="rect">
            <a:avLst/>
          </a:prstGeom>
        </p:spPr>
      </p:pic>
      <p:sp>
        <p:nvSpPr>
          <p:cNvPr id="7" name="Gạch đỏ 1"/>
          <p:cNvSpPr/>
          <p:nvPr/>
        </p:nvSpPr>
        <p:spPr>
          <a:xfrm>
            <a:off x="8915400" y="1752600"/>
            <a:ext cx="182880" cy="0"/>
          </a:xfrm>
          <a:prstGeom prst="line">
            <a:avLst/>
          </a:prstGeom>
          <a:noFill/>
          <a:ln w="31750">
            <a:solidFill>
              <a:schemeClr val="accent1"/>
            </a:solidFill>
            <a:prstDash val="solid"/>
          </a:ln>
        </p:spPr>
      </p:sp>
      <p:sp>
        <p:nvSpPr>
          <p:cNvPr id="8" name="Mục 1"/>
          <p:cNvSpPr txBox="1"/>
          <p:nvPr/>
        </p:nvSpPr>
        <p:spPr>
          <a:xfrm>
            <a:off x="9235440" y="1645920"/>
            <a:ext cx="2148840" cy="615696"/>
          </a:xfrm>
          <a:prstGeom prst="rect">
            <a:avLst/>
          </a:prstGeom>
          <a:noFill/>
          <a:ln/>
        </p:spPr>
        <p:txBody>
          <a:bodyPr wrap="square" lIns="0" tIns="0" rIns="0" bIns="0" rtlCol="0" anchor="t"/>
          <a:lstStyle/>
          <a:p>
            <a:pPr indent="0" marL="0">
              <a:buNone/>
            </a:pPr>
            <a:r>
              <a:rPr lang="en-US" sz="1400" b="1" dirty="0">
                <a:solidFill>
                  <a:schemeClr val="tx1"/>
                </a:solidFill>
              </a:rPr>
              <a:t>Ca tối &amp; ca sáng</a:t>
            </a:r>
            <a:endParaRPr lang="en-US" sz="1400" dirty="0"/>
          </a:p>
          <a:p>
            <a:pPr indent="0" marL="0">
              <a:buNone/>
            </a:pPr>
            <a:r>
              <a:rPr lang="en-US" sz="1200" dirty="0">
                <a:solidFill>
                  <a:schemeClr val="accent4"/>
                </a:solidFill>
              </a:rPr>
              <a:t>37.9% và 30.5% phiên; đêm muộn 0%</a:t>
            </a:r>
            <a:endParaRPr lang="en-US" sz="1400" dirty="0"/>
          </a:p>
        </p:txBody>
      </p:sp>
      <p:sp>
        <p:nvSpPr>
          <p:cNvPr id="9" name="Gạch đỏ 2"/>
          <p:cNvSpPr/>
          <p:nvPr/>
        </p:nvSpPr>
        <p:spPr>
          <a:xfrm>
            <a:off x="8915400" y="2569464"/>
            <a:ext cx="182880" cy="0"/>
          </a:xfrm>
          <a:prstGeom prst="line">
            <a:avLst/>
          </a:prstGeom>
          <a:noFill/>
          <a:ln w="31750">
            <a:solidFill>
              <a:schemeClr val="accent1"/>
            </a:solidFill>
            <a:prstDash val="solid"/>
          </a:ln>
        </p:spPr>
      </p:sp>
      <p:sp>
        <p:nvSpPr>
          <p:cNvPr id="10" name="Mục 2"/>
          <p:cNvSpPr txBox="1"/>
          <p:nvPr/>
        </p:nvSpPr>
        <p:spPr>
          <a:xfrm>
            <a:off x="9235440" y="2462784"/>
            <a:ext cx="2148840" cy="798576"/>
          </a:xfrm>
          <a:prstGeom prst="rect">
            <a:avLst/>
          </a:prstGeom>
          <a:noFill/>
          <a:ln/>
        </p:spPr>
        <p:txBody>
          <a:bodyPr wrap="square" lIns="0" tIns="0" rIns="0" bIns="0" rtlCol="0" anchor="t"/>
          <a:lstStyle/>
          <a:p>
            <a:pPr indent="0" marL="0">
              <a:buNone/>
            </a:pPr>
            <a:r>
              <a:rPr lang="en-US" sz="1400" b="1" dirty="0">
                <a:solidFill>
                  <a:schemeClr val="tx1"/>
                </a:solidFill>
              </a:rPr>
              <a:t>004 · Phục vụ</a:t>
            </a:r>
            <a:endParaRPr lang="en-US" sz="1400" dirty="0"/>
          </a:p>
          <a:p>
            <a:pPr indent="0" marL="0">
              <a:buNone/>
            </a:pPr>
            <a:r>
              <a:rPr lang="en-US" sz="1200" dirty="0">
                <a:solidFill>
                  <a:schemeClr val="accent4"/>
                </a:solidFill>
              </a:rPr>
              <a:t>0.0% ca trưa (cao điểm phục vụ); chiều 31.2%, tối 37.5%</a:t>
            </a:r>
            <a:endParaRPr lang="en-US" sz="1400" dirty="0"/>
          </a:p>
        </p:txBody>
      </p:sp>
      <p:sp>
        <p:nvSpPr>
          <p:cNvPr id="11" name="Gạch đỏ 3"/>
          <p:cNvSpPr/>
          <p:nvPr/>
        </p:nvSpPr>
        <p:spPr>
          <a:xfrm>
            <a:off x="8915400" y="3569208"/>
            <a:ext cx="182880" cy="0"/>
          </a:xfrm>
          <a:prstGeom prst="line">
            <a:avLst/>
          </a:prstGeom>
          <a:noFill/>
          <a:ln w="31750">
            <a:solidFill>
              <a:schemeClr val="accent1"/>
            </a:solidFill>
            <a:prstDash val="solid"/>
          </a:ln>
        </p:spPr>
      </p:sp>
      <p:sp>
        <p:nvSpPr>
          <p:cNvPr id="12" name="Mục 3"/>
          <p:cNvSpPr txBox="1"/>
          <p:nvPr/>
        </p:nvSpPr>
        <p:spPr>
          <a:xfrm>
            <a:off x="9235440" y="3462528"/>
            <a:ext cx="2148840" cy="615696"/>
          </a:xfrm>
          <a:prstGeom prst="rect">
            <a:avLst/>
          </a:prstGeom>
          <a:noFill/>
          <a:ln/>
        </p:spPr>
        <p:txBody>
          <a:bodyPr wrap="square" lIns="0" tIns="0" rIns="0" bIns="0" rtlCol="0" anchor="t"/>
          <a:lstStyle/>
          <a:p>
            <a:pPr indent="0" marL="0">
              <a:buNone/>
            </a:pPr>
            <a:r>
              <a:rPr lang="en-US" sz="1400" b="1" dirty="0">
                <a:solidFill>
                  <a:schemeClr val="tx1"/>
                </a:solidFill>
              </a:rPr>
              <a:t>003 · Bảo vệ</a:t>
            </a:r>
            <a:endParaRPr lang="en-US" sz="1400" dirty="0"/>
          </a:p>
          <a:p>
            <a:pPr indent="0" marL="0">
              <a:buNone/>
            </a:pPr>
            <a:r>
              <a:rPr lang="en-US" sz="1200" dirty="0">
                <a:solidFill>
                  <a:schemeClr val="accent4"/>
                </a:solidFill>
              </a:rPr>
              <a:t>0.0% ca chiều; sáng 41.7%, tối 50.0%</a:t>
            </a:r>
            <a:endParaRPr lang="en-US" sz="1400" dirty="0"/>
          </a:p>
        </p:txBody>
      </p:sp>
      <p:sp>
        <p:nvSpPr>
          <p:cNvPr id="13" name="Gạch đỏ 4"/>
          <p:cNvSpPr/>
          <p:nvPr/>
        </p:nvSpPr>
        <p:spPr>
          <a:xfrm>
            <a:off x="8915400" y="4386072"/>
            <a:ext cx="182880" cy="0"/>
          </a:xfrm>
          <a:prstGeom prst="line">
            <a:avLst/>
          </a:prstGeom>
          <a:noFill/>
          <a:ln w="31750">
            <a:solidFill>
              <a:schemeClr val="accent1"/>
            </a:solidFill>
            <a:prstDash val="solid"/>
          </a:ln>
        </p:spPr>
      </p:sp>
      <p:sp>
        <p:nvSpPr>
          <p:cNvPr id="14" name="Mục 4"/>
          <p:cNvSpPr txBox="1"/>
          <p:nvPr/>
        </p:nvSpPr>
        <p:spPr>
          <a:xfrm>
            <a:off x="9235440" y="4279392"/>
            <a:ext cx="2148840" cy="615696"/>
          </a:xfrm>
          <a:prstGeom prst="rect">
            <a:avLst/>
          </a:prstGeom>
          <a:noFill/>
          <a:ln/>
        </p:spPr>
        <p:txBody>
          <a:bodyPr wrap="square" lIns="0" tIns="0" rIns="0" bIns="0" rtlCol="0" anchor="t"/>
          <a:lstStyle/>
          <a:p>
            <a:pPr indent="0" marL="0">
              <a:buNone/>
            </a:pPr>
            <a:r>
              <a:rPr lang="en-US" sz="1400" b="1" dirty="0">
                <a:solidFill>
                  <a:schemeClr val="tx1"/>
                </a:solidFill>
              </a:rPr>
              <a:t>006 · Kinh doanh BĐS</a:t>
            </a:r>
            <a:endParaRPr lang="en-US" sz="1400" dirty="0"/>
          </a:p>
          <a:p>
            <a:pPr indent="0" marL="0">
              <a:buNone/>
            </a:pPr>
            <a:r>
              <a:rPr lang="en-US" sz="1200" dirty="0">
                <a:solidFill>
                  <a:schemeClr val="accent4"/>
                </a:solidFill>
              </a:rPr>
              <a:t>Chỉ 7.7% ca sáng; trưa 38.5%, tối 46.2%</a:t>
            </a:r>
            <a:endParaRPr lang="en-US" sz="1400" dirty="0"/>
          </a:p>
        </p:txBody>
      </p:sp>
      <p:sp>
        <p:nvSpPr>
          <p:cNvPr id="15" name="Gạch đỏ nhận định"/>
          <p:cNvSpPr/>
          <p:nvPr/>
        </p:nvSpPr>
        <p:spPr>
          <a:xfrm>
            <a:off x="822960" y="5989320"/>
            <a:ext cx="182880" cy="0"/>
          </a:xfrm>
          <a:prstGeom prst="line">
            <a:avLst/>
          </a:prstGeom>
          <a:noFill/>
          <a:ln w="31750">
            <a:solidFill>
              <a:schemeClr val="accent1"/>
            </a:solidFill>
            <a:prstDash val="solid"/>
          </a:ln>
        </p:spPr>
      </p:sp>
      <p:sp>
        <p:nvSpPr>
          <p:cNvPr id="16" name="Nhận định"/>
          <p:cNvSpPr txBox="1"/>
          <p:nvPr/>
        </p:nvSpPr>
        <p:spPr>
          <a:xfrm>
            <a:off x="1143000" y="5852160"/>
            <a:ext cx="9875520" cy="292608"/>
          </a:xfrm>
          <a:prstGeom prst="rect">
            <a:avLst/>
          </a:prstGeom>
          <a:noFill/>
          <a:ln/>
        </p:spPr>
        <p:txBody>
          <a:bodyPr wrap="square" lIns="0" tIns="0" rIns="0" bIns="0" rtlCol="0" anchor="t"/>
          <a:lstStyle/>
          <a:p>
            <a:pPr indent="0" marL="0">
              <a:buNone/>
            </a:pPr>
            <a:r>
              <a:rPr lang="en-US" sz="1600" b="1" dirty="0">
                <a:solidFill>
                  <a:schemeClr val="tx1"/>
                </a:solidFill>
              </a:rPr>
              <a:t>Nhịp online bám theo nhịp sinh học và đặc thù ca làm việc của từng nghề</a:t>
            </a:r>
            <a:endParaRPr lang="en-US" sz="16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1.2 · TẦNG VẬN HÀNH (H₁)</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TẦN SUẤT ONLINE &amp; THỜI LƯỢNG PHIÊN</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Trung bình 2.11 lần/ngày và 18.5 phút mỗi phiên</a:t>
            </a:r>
            <a:endParaRPr lang="en-US" sz="1600" dirty="0"/>
          </a:p>
        </p:txBody>
      </p:sp>
      <p:pic>
        <p:nvPicPr>
          <p:cNvPr id="6" name="Image 0" descr="Tần suất vào mạng mỗi ngày và thời lượng mỗi phiên theo persona">    </p:cNvPr>
          <p:cNvPicPr>
            <a:picLocks noChangeAspect="1"/>
          </p:cNvPicPr>
          <p:nvPr/>
        </p:nvPicPr>
        <p:blipFill>
          <a:blip r:embed="rId1"/>
          <a:stretch>
            <a:fillRect/>
          </a:stretch>
        </p:blipFill>
        <p:spPr>
          <a:xfrm>
            <a:off x="822960" y="1508760"/>
            <a:ext cx="10241280" cy="4188663"/>
          </a:xfrm>
          <a:prstGeom prst="rect">
            <a:avLst/>
          </a:prstGeom>
        </p:spPr>
      </p:pic>
      <p:sp>
        <p:nvSpPr>
          <p:cNvPr id="7" name="Gạch đỏ 1"/>
          <p:cNvSpPr/>
          <p:nvPr/>
        </p:nvSpPr>
        <p:spPr>
          <a:xfrm>
            <a:off x="822960" y="5888736"/>
            <a:ext cx="182880" cy="0"/>
          </a:xfrm>
          <a:prstGeom prst="line">
            <a:avLst/>
          </a:prstGeom>
          <a:noFill/>
          <a:ln w="31750">
            <a:solidFill>
              <a:schemeClr val="accent1"/>
            </a:solidFill>
            <a:prstDash val="solid"/>
          </a:ln>
        </p:spPr>
      </p:sp>
      <p:sp>
        <p:nvSpPr>
          <p:cNvPr id="8" name="Callout 1"/>
          <p:cNvSpPr txBox="1"/>
          <p:nvPr/>
        </p:nvSpPr>
        <p:spPr>
          <a:xfrm>
            <a:off x="1097280" y="5779008"/>
            <a:ext cx="2926080" cy="777240"/>
          </a:xfrm>
          <a:prstGeom prst="rect">
            <a:avLst/>
          </a:prstGeom>
          <a:noFill/>
          <a:ln/>
        </p:spPr>
        <p:txBody>
          <a:bodyPr wrap="square" lIns="0" tIns="0" rIns="0" bIns="0" rtlCol="0" anchor="t"/>
          <a:lstStyle/>
          <a:p>
            <a:pPr indent="0" marL="0">
              <a:buNone/>
            </a:pPr>
            <a:r>
              <a:rPr lang="en-US" sz="1400" b="1" dirty="0">
                <a:solidFill>
                  <a:schemeClr val="tx1"/>
                </a:solidFill>
              </a:rPr>
              <a:t>Tần suất vào mạng</a:t>
            </a:r>
            <a:endParaRPr lang="en-US" sz="1400" dirty="0"/>
          </a:p>
          <a:p>
            <a:pPr indent="0" marL="0">
              <a:buNone/>
            </a:pPr>
            <a:r>
              <a:rPr lang="en-US" sz="1200" dirty="0">
                <a:solidFill>
                  <a:schemeClr val="accent4"/>
                </a:solidFill>
              </a:rPr>
              <a:t>001 cao nhất (2.75 lần/ngày); 002 và 003 thấp nhất (1.67; 1.71)</a:t>
            </a:r>
            <a:endParaRPr lang="en-US" sz="1400" dirty="0"/>
          </a:p>
        </p:txBody>
      </p:sp>
      <p:sp>
        <p:nvSpPr>
          <p:cNvPr id="9" name="Gạch đỏ 2"/>
          <p:cNvSpPr/>
          <p:nvPr/>
        </p:nvSpPr>
        <p:spPr>
          <a:xfrm>
            <a:off x="4160520" y="5888736"/>
            <a:ext cx="182880" cy="0"/>
          </a:xfrm>
          <a:prstGeom prst="line">
            <a:avLst/>
          </a:prstGeom>
          <a:noFill/>
          <a:ln w="31750">
            <a:solidFill>
              <a:schemeClr val="accent1"/>
            </a:solidFill>
            <a:prstDash val="solid"/>
          </a:ln>
        </p:spPr>
      </p:sp>
      <p:sp>
        <p:nvSpPr>
          <p:cNvPr id="10" name="Callout 2"/>
          <p:cNvSpPr txBox="1"/>
          <p:nvPr/>
        </p:nvSpPr>
        <p:spPr>
          <a:xfrm>
            <a:off x="4434840" y="5779008"/>
            <a:ext cx="2926080" cy="777240"/>
          </a:xfrm>
          <a:prstGeom prst="rect">
            <a:avLst/>
          </a:prstGeom>
          <a:noFill/>
          <a:ln/>
        </p:spPr>
        <p:txBody>
          <a:bodyPr wrap="square" lIns="0" tIns="0" rIns="0" bIns="0" rtlCol="0" anchor="t"/>
          <a:lstStyle/>
          <a:p>
            <a:pPr indent="0" marL="0">
              <a:buNone/>
            </a:pPr>
            <a:r>
              <a:rPr lang="en-US" sz="1400" b="1" dirty="0">
                <a:solidFill>
                  <a:schemeClr val="tx1"/>
                </a:solidFill>
              </a:rPr>
              <a:t>Thời lượng phiên</a:t>
            </a:r>
            <a:endParaRPr lang="en-US" sz="1400" dirty="0"/>
          </a:p>
          <a:p>
            <a:pPr indent="0" marL="0">
              <a:buNone/>
            </a:pPr>
            <a:r>
              <a:rPr lang="en-US" sz="1200" dirty="0">
                <a:solidFill>
                  <a:schemeClr val="accent4"/>
                </a:solidFill>
              </a:rPr>
              <a:t>004 dài nhất (23.6 ± 7.1 phút); 005 ngắn và đều nhất (13.1 ± 2.3)</a:t>
            </a:r>
            <a:endParaRPr lang="en-US" sz="1400" dirty="0"/>
          </a:p>
        </p:txBody>
      </p:sp>
      <p:sp>
        <p:nvSpPr>
          <p:cNvPr id="11" name="Gạch đỏ 3"/>
          <p:cNvSpPr/>
          <p:nvPr/>
        </p:nvSpPr>
        <p:spPr>
          <a:xfrm>
            <a:off x="7498080" y="5888736"/>
            <a:ext cx="182880" cy="0"/>
          </a:xfrm>
          <a:prstGeom prst="line">
            <a:avLst/>
          </a:prstGeom>
          <a:noFill/>
          <a:ln w="31750">
            <a:solidFill>
              <a:schemeClr val="accent1"/>
            </a:solidFill>
            <a:prstDash val="solid"/>
          </a:ln>
        </p:spPr>
      </p:sp>
      <p:sp>
        <p:nvSpPr>
          <p:cNvPr id="12" name="Callout 3"/>
          <p:cNvSpPr txBox="1"/>
          <p:nvPr/>
        </p:nvSpPr>
        <p:spPr>
          <a:xfrm>
            <a:off x="7772400" y="5779008"/>
            <a:ext cx="2926080" cy="777240"/>
          </a:xfrm>
          <a:prstGeom prst="rect">
            <a:avLst/>
          </a:prstGeom>
          <a:noFill/>
          <a:ln/>
        </p:spPr>
        <p:txBody>
          <a:bodyPr wrap="square" lIns="0" tIns="0" rIns="0" bIns="0" rtlCol="0" anchor="t"/>
          <a:lstStyle/>
          <a:p>
            <a:pPr indent="0" marL="0">
              <a:buNone/>
            </a:pPr>
            <a:r>
              <a:rPr lang="en-US" sz="1400" b="1" dirty="0">
                <a:solidFill>
                  <a:schemeClr val="tx1"/>
                </a:solidFill>
              </a:rPr>
              <a:t>Kết luận H₁</a:t>
            </a:r>
            <a:endParaRPr lang="en-US" sz="1400" dirty="0"/>
          </a:p>
          <a:p>
            <a:pPr indent="0" marL="0">
              <a:buNone/>
            </a:pPr>
            <a:r>
              <a:rPr lang="en-US" sz="1200" dirty="0">
                <a:solidFill>
                  <a:schemeClr val="accent4"/>
                </a:solidFill>
              </a:rPr>
              <a:t>Lịch trình và thời lượng phù hợp kịch bản đời thực đặt ra</a:t>
            </a:r>
            <a:endParaRPr lang="en-US" sz="14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2.1.1 · TẦNG HÀNH VI &amp; NHẬN THỨC (H₂)</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PHÂN BỔ HÀNH ĐỘNG &amp; CƯỜNG ĐỘ TƯƠNG TÁC</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Tỷ lệ % hành vi của 6 persona và chỉ số AER (tỷ lệ tương tác chủ động)</a:t>
            </a:r>
            <a:endParaRPr lang="en-US" sz="1600" dirty="0"/>
          </a:p>
        </p:txBody>
      </p:sp>
      <p:graphicFrame>
        <p:nvGraphicFramePr>
          <p:cNvPr id="8" name="Bảng phân bổ hành động"/>
          <p:cNvGraphicFramePr>
            <a:graphicFrameLocks noGrp="1"/>
          </p:cNvGraphicFramePr>
          <p:nvPr>
            <p:extLst>
              <p:ext uri="{D42A27DB-BD31-4B8C-83A1-F6EECF244321}">
                <p14:modId xmlns:p14="http://schemas.microsoft.com/office/powerpoint/2010/main" val="1579011935"/>
              </p:ext>
            </p:extLst>
          </p:nvPr>
        </p:nvGraphicFramePr>
        <p:xfrm>
          <a:off x="822960" y="1554480"/>
          <a:ext cx="10451592" cy="914400"/>
        </p:xfrm>
        <a:graphic>
          <a:graphicData uri="http://schemas.openxmlformats.org/drawingml/2006/table">
            <a:tbl>
              <a:tblPr/>
              <a:tblGrid>
                <a:gridCol w="3200400"/>
                <a:gridCol w="1188720"/>
                <a:gridCol w="1188720"/>
                <a:gridCol w="1188720"/>
                <a:gridCol w="1188720"/>
                <a:gridCol w="1188720"/>
                <a:gridCol w="1216152"/>
              </a:tblGrid>
              <a:tr h="411480">
                <a:tc>
                  <a:txBody>
                    <a:bodyPr/>
                    <a:lstStyle/>
                    <a:p>
                      <a:pPr algn="l" indent="0" marL="0">
                        <a:buNone/>
                      </a:pP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001</a:t>
                      </a:r>
                      <a:endParaRPr lang="en-US" sz="1100" dirty="0"/>
                    </a:p>
                    <a:p>
                      <a:pPr algn="ctr" indent="0" marL="0">
                        <a:buNone/>
                      </a:pPr>
                      <a:r>
                        <a:rPr lang="en-US" sz="1100" b="1" dirty="0">
                          <a:solidFill>
                            <a:srgbClr val="0F172A"/>
                          </a:solidFill>
                        </a:rPr>
                        <a:t>Thiết kế</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002</a:t>
                      </a:r>
                      <a:endParaRPr lang="en-US" sz="1100" dirty="0"/>
                    </a:p>
                    <a:p>
                      <a:pPr algn="ctr" indent="0" marL="0">
                        <a:buNone/>
                      </a:pPr>
                      <a:r>
                        <a:rPr lang="en-US" sz="1100" b="1" dirty="0">
                          <a:solidFill>
                            <a:srgbClr val="0F172A"/>
                          </a:solidFill>
                        </a:rPr>
                        <a:t>Nội trợ</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003</a:t>
                      </a:r>
                      <a:endParaRPr lang="en-US" sz="1100" dirty="0"/>
                    </a:p>
                    <a:p>
                      <a:pPr algn="ctr" indent="0" marL="0">
                        <a:buNone/>
                      </a:pPr>
                      <a:r>
                        <a:rPr lang="en-US" sz="1100" b="1" dirty="0">
                          <a:solidFill>
                            <a:srgbClr val="0F172A"/>
                          </a:solidFill>
                        </a:rPr>
                        <a:t>Bảo vệ</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004</a:t>
                      </a:r>
                      <a:endParaRPr lang="en-US" sz="1100" dirty="0"/>
                    </a:p>
                    <a:p>
                      <a:pPr algn="ctr" indent="0" marL="0">
                        <a:buNone/>
                      </a:pPr>
                      <a:r>
                        <a:rPr lang="en-US" sz="1100" b="1" dirty="0">
                          <a:solidFill>
                            <a:srgbClr val="0F172A"/>
                          </a:solidFill>
                        </a:rPr>
                        <a:t>Phục vụ</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005</a:t>
                      </a:r>
                      <a:endParaRPr lang="en-US" sz="1100" dirty="0"/>
                    </a:p>
                    <a:p>
                      <a:pPr algn="ctr" indent="0" marL="0">
                        <a:buNone/>
                      </a:pPr>
                      <a:r>
                        <a:rPr lang="en-US" sz="1100" b="1" dirty="0">
                          <a:solidFill>
                            <a:srgbClr val="0F172A"/>
                          </a:solidFill>
                        </a:rPr>
                        <a:t>Cơ khí</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006</a:t>
                      </a:r>
                      <a:endParaRPr lang="en-US" sz="1100" dirty="0"/>
                    </a:p>
                    <a:p>
                      <a:pPr algn="ctr" indent="0" marL="0">
                        <a:buNone/>
                      </a:pPr>
                      <a:r>
                        <a:rPr lang="en-US" sz="1100" b="1" dirty="0">
                          <a:solidFill>
                            <a:srgbClr val="0F172A"/>
                          </a:solidFill>
                        </a:rPr>
                        <a:t>Kinh doanh</a:t>
                      </a:r>
                      <a:endParaRPr lang="en-US" sz="1100" dirty="0"/>
                    </a:p>
                  </a:txBody>
                  <a:tcPr marL="73152" marR="73152" marT="18288" marB="18288"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r>
              <a:tr h="246888">
                <a:tc>
                  <a:txBody>
                    <a:bodyPr/>
                    <a:lstStyle/>
                    <a:p>
                      <a:pPr algn="l" indent="0" marL="0">
                        <a:buNone/>
                      </a:pPr>
                      <a:r>
                        <a:rPr lang="en-US" sz="1100" dirty="0">
                          <a:solidFill>
                            <a:srgbClr val="0F172A"/>
                          </a:solidFill>
                        </a:rPr>
                        <a:t>Bình luận (Comment)</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4.9%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5.7%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Chia sẻ (Share)</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Thả tim / Thương thương (Love, Care)</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3.8%</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Bấm Thích (Like)</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6.4%</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6.5%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2.8%</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5.3%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Cảm xúc khác (Haha, Wow, Sad, Angry)</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2.4%</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Đọc sâu bài viết (Read &amp; Expand)</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19.7%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12.0%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6.3%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18.9%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20.9%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Xem video Reels (Watch / Next)</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25.5%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22.1%</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84.5%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Cuộn trang Newsfeed (Scroll)</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33.1%</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21.7%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35.7%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31.1%</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33.5%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Quan sát &amp; đọc lướt (Observe)</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15.4%</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14.7%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16.6%</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5.3%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12.3%</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21.8%</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Tìm kiếm chủ động (Search)</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0.2%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E93744"/>
                          </a:solidFill>
                        </a:rPr>
                        <a:t>4.7%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dirty="0">
                          <a:solidFill>
                            <a:srgbClr val="0F172A"/>
                          </a:solidFill>
                        </a:rPr>
                        <a:t>Điều hướng khác (mở/đóng tab, popup)</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23.1%</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15.2%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13.1%</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3.2%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21.2%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dirty="0">
                          <a:solidFill>
                            <a:srgbClr val="0F172A"/>
                          </a:solidFill>
                        </a:rPr>
                        <a:t>15.5%</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b="1" dirty="0">
                          <a:solidFill>
                            <a:srgbClr val="0F172A"/>
                          </a:solidFill>
                        </a:rPr>
                        <a:t>Tổng số hành vi (N = 100%)</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299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184</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367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412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212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100" b="1" dirty="0">
                          <a:solidFill>
                            <a:srgbClr val="0F172A"/>
                          </a:solidFill>
                        </a:rPr>
                        <a:t>206</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246888">
                <a:tc>
                  <a:txBody>
                    <a:bodyPr/>
                    <a:lstStyle/>
                    <a:p>
                      <a:pPr algn="l" indent="0" marL="0">
                        <a:buNone/>
                      </a:pPr>
                      <a:r>
                        <a:rPr lang="en-US" sz="1100" b="1" dirty="0">
                          <a:solidFill>
                            <a:srgbClr val="0F172A"/>
                          </a:solidFill>
                        </a:rPr>
                        <a:t>Tỷ lệ tương tác chủ động (AER)</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7.4%</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10.9%</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5.7%</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2.2%</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11.8%</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c>
                  <a:txBody>
                    <a:bodyPr/>
                    <a:lstStyle/>
                    <a:p>
                      <a:pPr algn="ctr" indent="0" marL="0">
                        <a:buNone/>
                      </a:pPr>
                      <a:r>
                        <a:rPr lang="en-US" sz="1100" b="1" dirty="0">
                          <a:solidFill>
                            <a:srgbClr val="E93744"/>
                          </a:solidFill>
                        </a:rPr>
                        <a:t>8.8%</a:t>
                      </a:r>
                      <a:endParaRPr lang="en-US" sz="1100" dirty="0"/>
                    </a:p>
                  </a:txBody>
                  <a:tcPr marL="73152" marR="73152" marT="18288" marB="18288"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solidFill>
                      <a:srgbClr val="FDECEF"/>
                    </a:solidFill>
                  </a:tcPr>
                </a:tc>
              </a:tr>
            </a:tbl>
          </a:graphicData>
        </a:graphic>
      </p:graphicFrame>
      <p:sp>
        <p:nvSpPr>
          <p:cNvPr id="7" name="Gạch đỏ 1"/>
          <p:cNvSpPr/>
          <p:nvPr/>
        </p:nvSpPr>
        <p:spPr>
          <a:xfrm>
            <a:off x="822960" y="5504688"/>
            <a:ext cx="182880" cy="0"/>
          </a:xfrm>
          <a:prstGeom prst="line">
            <a:avLst/>
          </a:prstGeom>
          <a:noFill/>
          <a:ln w="31750">
            <a:solidFill>
              <a:schemeClr val="accent1"/>
            </a:solidFill>
            <a:prstDash val="solid"/>
          </a:ln>
        </p:spPr>
      </p:sp>
      <p:sp>
        <p:nvSpPr>
          <p:cNvPr id="8" name="Đặc trưng 1"/>
          <p:cNvSpPr txBox="1"/>
          <p:nvPr/>
        </p:nvSpPr>
        <p:spPr>
          <a:xfrm>
            <a:off x="1097280" y="5394960"/>
            <a:ext cx="2240280" cy="868680"/>
          </a:xfrm>
          <a:prstGeom prst="rect">
            <a:avLst/>
          </a:prstGeom>
          <a:noFill/>
          <a:ln/>
        </p:spPr>
        <p:txBody>
          <a:bodyPr wrap="square" lIns="0" tIns="0" rIns="0" bIns="0" rtlCol="0" anchor="t"/>
          <a:lstStyle/>
          <a:p>
            <a:pPr indent="0" marL="0">
              <a:buNone/>
            </a:pPr>
            <a:r>
              <a:rPr lang="en-US" sz="1400" b="1" dirty="0">
                <a:solidFill>
                  <a:schemeClr val="tx1"/>
                </a:solidFill>
              </a:rPr>
              <a:t>004 · Reels 84.5%</a:t>
            </a:r>
            <a:endParaRPr lang="en-US" sz="1400" dirty="0"/>
          </a:p>
          <a:p>
            <a:pPr indent="0" marL="0">
              <a:buNone/>
            </a:pPr>
            <a:r>
              <a:rPr lang="en-US" sz="1200" dirty="0">
                <a:solidFill>
                  <a:schemeClr val="accent4"/>
                </a:solidFill>
              </a:rPr>
              <a:t>Gần như không cuộn feed, 0% comment; AER thấp nhất (2.2%)</a:t>
            </a:r>
            <a:endParaRPr lang="en-US" sz="1400" dirty="0"/>
          </a:p>
        </p:txBody>
      </p:sp>
      <p:sp>
        <p:nvSpPr>
          <p:cNvPr id="9" name="Gạch đỏ 2"/>
          <p:cNvSpPr/>
          <p:nvPr/>
        </p:nvSpPr>
        <p:spPr>
          <a:xfrm>
            <a:off x="3474720" y="5504688"/>
            <a:ext cx="182880" cy="0"/>
          </a:xfrm>
          <a:prstGeom prst="line">
            <a:avLst/>
          </a:prstGeom>
          <a:noFill/>
          <a:ln w="31750">
            <a:solidFill>
              <a:schemeClr val="accent1"/>
            </a:solidFill>
            <a:prstDash val="solid"/>
          </a:ln>
        </p:spPr>
      </p:sp>
      <p:sp>
        <p:nvSpPr>
          <p:cNvPr id="10" name="Đặc trưng 2"/>
          <p:cNvSpPr txBox="1"/>
          <p:nvPr/>
        </p:nvSpPr>
        <p:spPr>
          <a:xfrm>
            <a:off x="3749040" y="5394960"/>
            <a:ext cx="2240280" cy="868680"/>
          </a:xfrm>
          <a:prstGeom prst="rect">
            <a:avLst/>
          </a:prstGeom>
          <a:noFill/>
          <a:ln/>
        </p:spPr>
        <p:txBody>
          <a:bodyPr wrap="square" lIns="0" tIns="0" rIns="0" bIns="0" rtlCol="0" anchor="t"/>
          <a:lstStyle/>
          <a:p>
            <a:pPr indent="0" marL="0">
              <a:buNone/>
            </a:pPr>
            <a:r>
              <a:rPr lang="en-US" sz="1400" b="1" dirty="0">
                <a:solidFill>
                  <a:schemeClr val="tx1"/>
                </a:solidFill>
              </a:rPr>
              <a:t>003 &amp; 005 · Đàm luận</a:t>
            </a:r>
            <a:endParaRPr lang="en-US" sz="1400" dirty="0"/>
          </a:p>
          <a:p>
            <a:pPr indent="0" marL="0">
              <a:buNone/>
            </a:pPr>
            <a:r>
              <a:rPr lang="en-US" sz="1200" dirty="0">
                <a:solidFill>
                  <a:schemeClr val="accent4"/>
                </a:solidFill>
              </a:rPr>
              <a:t>Comment 4.9% và 5.7%; 005 duy nhất bấm Share; AER cao nhất 11.8%</a:t>
            </a:r>
            <a:endParaRPr lang="en-US" sz="1400" dirty="0"/>
          </a:p>
        </p:txBody>
      </p:sp>
      <p:sp>
        <p:nvSpPr>
          <p:cNvPr id="11" name="Gạch đỏ 3"/>
          <p:cNvSpPr/>
          <p:nvPr/>
        </p:nvSpPr>
        <p:spPr>
          <a:xfrm>
            <a:off x="6126480" y="5504688"/>
            <a:ext cx="182880" cy="0"/>
          </a:xfrm>
          <a:prstGeom prst="line">
            <a:avLst/>
          </a:prstGeom>
          <a:noFill/>
          <a:ln w="31750">
            <a:solidFill>
              <a:schemeClr val="accent1"/>
            </a:solidFill>
            <a:prstDash val="solid"/>
          </a:ln>
        </p:spPr>
      </p:sp>
      <p:sp>
        <p:nvSpPr>
          <p:cNvPr id="12" name="Đặc trưng 3"/>
          <p:cNvSpPr txBox="1"/>
          <p:nvPr/>
        </p:nvSpPr>
        <p:spPr>
          <a:xfrm>
            <a:off x="6400800" y="5394960"/>
            <a:ext cx="2240280" cy="868680"/>
          </a:xfrm>
          <a:prstGeom prst="rect">
            <a:avLst/>
          </a:prstGeom>
          <a:noFill/>
          <a:ln/>
        </p:spPr>
        <p:txBody>
          <a:bodyPr wrap="square" lIns="0" tIns="0" rIns="0" bIns="0" rtlCol="0" anchor="t"/>
          <a:lstStyle/>
          <a:p>
            <a:pPr indent="0" marL="0">
              <a:buNone/>
            </a:pPr>
            <a:r>
              <a:rPr lang="en-US" sz="1400" b="1" dirty="0">
                <a:solidFill>
                  <a:schemeClr val="tx1"/>
                </a:solidFill>
              </a:rPr>
              <a:t>002 · Cảm xúc ấm áp</a:t>
            </a:r>
            <a:endParaRPr lang="en-US" sz="1400" dirty="0"/>
          </a:p>
          <a:p>
            <a:pPr indent="0" marL="0">
              <a:buNone/>
            </a:pPr>
            <a:r>
              <a:rPr lang="en-US" sz="1200" dirty="0">
                <a:solidFill>
                  <a:schemeClr val="accent4"/>
                </a:solidFill>
              </a:rPr>
              <a:t>Love/Care 3.8%, chiếm 77.8% toàn hệ thống; AER 10.9%</a:t>
            </a:r>
            <a:endParaRPr lang="en-US" sz="1400" dirty="0"/>
          </a:p>
        </p:txBody>
      </p:sp>
      <p:sp>
        <p:nvSpPr>
          <p:cNvPr id="13" name="Gạch đỏ 4"/>
          <p:cNvSpPr/>
          <p:nvPr/>
        </p:nvSpPr>
        <p:spPr>
          <a:xfrm>
            <a:off x="8778240" y="5504688"/>
            <a:ext cx="182880" cy="0"/>
          </a:xfrm>
          <a:prstGeom prst="line">
            <a:avLst/>
          </a:prstGeom>
          <a:noFill/>
          <a:ln w="31750">
            <a:solidFill>
              <a:schemeClr val="accent1"/>
            </a:solidFill>
            <a:prstDash val="solid"/>
          </a:ln>
        </p:spPr>
      </p:sp>
      <p:sp>
        <p:nvSpPr>
          <p:cNvPr id="14" name="Đặc trưng 4"/>
          <p:cNvSpPr txBox="1"/>
          <p:nvPr/>
        </p:nvSpPr>
        <p:spPr>
          <a:xfrm>
            <a:off x="9052560" y="5394960"/>
            <a:ext cx="2240280" cy="868680"/>
          </a:xfrm>
          <a:prstGeom prst="rect">
            <a:avLst/>
          </a:prstGeom>
          <a:noFill/>
          <a:ln/>
        </p:spPr>
        <p:txBody>
          <a:bodyPr wrap="square" lIns="0" tIns="0" rIns="0" bIns="0" rtlCol="0" anchor="t"/>
          <a:lstStyle/>
          <a:p>
            <a:pPr indent="0" marL="0">
              <a:buNone/>
            </a:pPr>
            <a:r>
              <a:rPr lang="en-US" sz="1400" b="1" dirty="0">
                <a:solidFill>
                  <a:schemeClr val="tx1"/>
                </a:solidFill>
              </a:rPr>
              <a:t>001 &amp; 006 · Baseline</a:t>
            </a:r>
            <a:endParaRPr lang="en-US" sz="1400" dirty="0"/>
          </a:p>
          <a:p>
            <a:pPr indent="0" marL="0">
              <a:buNone/>
            </a:pPr>
            <a:r>
              <a:rPr lang="en-US" sz="1200" dirty="0">
                <a:solidFill>
                  <a:schemeClr val="accent4"/>
                </a:solidFill>
              </a:rPr>
              <a:t>Đọc sâu ~20%, cuộn feed ~33%, Like 5–6%; AER 7.4–8.8%</a:t>
            </a:r>
            <a:endParaRPr lang="en-US" sz="14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2.1.2 · TẦNG HÀNH VI &amp; NHẬN THỨC (H₂)</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BẢN ĐỒ KHÔNG GIAN HÀNH VI</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Phân tách tự nhiên 4 cụm persona, các agent không bị đồng hóa thành bot giống nhau</a:t>
            </a:r>
            <a:endParaRPr lang="en-US" sz="1600" dirty="0"/>
          </a:p>
        </p:txBody>
      </p:sp>
      <p:pic>
        <p:nvPicPr>
          <p:cNvPr id="6" name="Image 0" descr="Bản đồ PCA không gian hành vi của 6 persona">    </p:cNvPr>
          <p:cNvPicPr>
            <a:picLocks noChangeAspect="1"/>
          </p:cNvPicPr>
          <p:nvPr/>
        </p:nvPicPr>
        <p:blipFill>
          <a:blip r:embed="rId1"/>
          <a:stretch>
            <a:fillRect/>
          </a:stretch>
        </p:blipFill>
        <p:spPr>
          <a:xfrm>
            <a:off x="822960" y="1600200"/>
            <a:ext cx="6675120" cy="3856222"/>
          </a:xfrm>
          <a:prstGeom prst="rect">
            <a:avLst/>
          </a:prstGeom>
        </p:spPr>
      </p:pic>
      <p:sp>
        <p:nvSpPr>
          <p:cNvPr id="7" name="Gạch đỏ 1"/>
          <p:cNvSpPr/>
          <p:nvPr/>
        </p:nvSpPr>
        <p:spPr>
          <a:xfrm>
            <a:off x="7818120" y="1760220"/>
            <a:ext cx="182880" cy="0"/>
          </a:xfrm>
          <a:prstGeom prst="line">
            <a:avLst/>
          </a:prstGeom>
          <a:noFill/>
          <a:ln w="31750">
            <a:solidFill>
              <a:schemeClr val="accent1"/>
            </a:solidFill>
            <a:prstDash val="solid"/>
          </a:ln>
        </p:spPr>
      </p:sp>
      <p:sp>
        <p:nvSpPr>
          <p:cNvPr id="8" name="Mục 1"/>
          <p:cNvSpPr txBox="1"/>
          <p:nvPr/>
        </p:nvSpPr>
        <p:spPr>
          <a:xfrm>
            <a:off x="8138160" y="1645920"/>
            <a:ext cx="3200400" cy="661416"/>
          </a:xfrm>
          <a:prstGeom prst="rect">
            <a:avLst/>
          </a:prstGeom>
          <a:noFill/>
          <a:ln/>
        </p:spPr>
        <p:txBody>
          <a:bodyPr wrap="square" lIns="0" tIns="0" rIns="0" bIns="0" rtlCol="0" anchor="t"/>
          <a:lstStyle/>
          <a:p>
            <a:pPr indent="0" marL="0">
              <a:buNone/>
            </a:pPr>
            <a:r>
              <a:rPr lang="en-US" sz="1500" b="1" dirty="0">
                <a:solidFill>
                  <a:schemeClr val="tx1"/>
                </a:solidFill>
              </a:rPr>
              <a:t>Đàm luận xã hội · 003, 005</a:t>
            </a:r>
            <a:endParaRPr lang="en-US" sz="1500" dirty="0"/>
          </a:p>
          <a:p>
            <a:pPr indent="0" marL="0">
              <a:buNone/>
            </a:pPr>
            <a:r>
              <a:rPr lang="en-US" sz="1300" dirty="0">
                <a:solidFill>
                  <a:schemeClr val="accent4"/>
                </a:solidFill>
              </a:rPr>
              <a:t>Lệch về phía Comment/Share; gom 85.7% lượng comment toàn bộ</a:t>
            </a:r>
            <a:endParaRPr lang="en-US" sz="1500" dirty="0"/>
          </a:p>
        </p:txBody>
      </p:sp>
      <p:sp>
        <p:nvSpPr>
          <p:cNvPr id="9" name="Gạch đỏ 2"/>
          <p:cNvSpPr/>
          <p:nvPr/>
        </p:nvSpPr>
        <p:spPr>
          <a:xfrm>
            <a:off x="7818120" y="2622804"/>
            <a:ext cx="182880" cy="0"/>
          </a:xfrm>
          <a:prstGeom prst="line">
            <a:avLst/>
          </a:prstGeom>
          <a:noFill/>
          <a:ln w="31750">
            <a:solidFill>
              <a:schemeClr val="accent1"/>
            </a:solidFill>
            <a:prstDash val="solid"/>
          </a:ln>
        </p:spPr>
      </p:sp>
      <p:sp>
        <p:nvSpPr>
          <p:cNvPr id="10" name="Mục 2"/>
          <p:cNvSpPr txBox="1"/>
          <p:nvPr/>
        </p:nvSpPr>
        <p:spPr>
          <a:xfrm>
            <a:off x="8138160" y="2508504"/>
            <a:ext cx="3200400" cy="661416"/>
          </a:xfrm>
          <a:prstGeom prst="rect">
            <a:avLst/>
          </a:prstGeom>
          <a:noFill/>
          <a:ln/>
        </p:spPr>
        <p:txBody>
          <a:bodyPr wrap="square" lIns="0" tIns="0" rIns="0" bIns="0" rtlCol="0" anchor="t"/>
          <a:lstStyle/>
          <a:p>
            <a:pPr indent="0" marL="0">
              <a:buNone/>
            </a:pPr>
            <a:r>
              <a:rPr lang="en-US" sz="1500" b="1" dirty="0">
                <a:solidFill>
                  <a:schemeClr val="tx1"/>
                </a:solidFill>
              </a:rPr>
              <a:t>Cảm xúc ấm áp · 002</a:t>
            </a:r>
            <a:endParaRPr lang="en-US" sz="1500" dirty="0"/>
          </a:p>
          <a:p>
            <a:pPr indent="0" marL="0">
              <a:buNone/>
            </a:pPr>
            <a:r>
              <a:rPr lang="en-US" sz="1300" dirty="0">
                <a:solidFill>
                  <a:schemeClr val="accent4"/>
                </a:solidFill>
              </a:rPr>
              <a:t>Cực riêng ở phía trên; chiếm 77.8% Love/Care toàn hệ thống</a:t>
            </a:r>
            <a:endParaRPr lang="en-US" sz="1500" dirty="0"/>
          </a:p>
        </p:txBody>
      </p:sp>
      <p:sp>
        <p:nvSpPr>
          <p:cNvPr id="11" name="Gạch đỏ 3"/>
          <p:cNvSpPr/>
          <p:nvPr/>
        </p:nvSpPr>
        <p:spPr>
          <a:xfrm>
            <a:off x="7818120" y="3485388"/>
            <a:ext cx="182880" cy="0"/>
          </a:xfrm>
          <a:prstGeom prst="line">
            <a:avLst/>
          </a:prstGeom>
          <a:noFill/>
          <a:ln w="31750">
            <a:solidFill>
              <a:schemeClr val="accent1"/>
            </a:solidFill>
            <a:prstDash val="solid"/>
          </a:ln>
        </p:spPr>
      </p:sp>
      <p:sp>
        <p:nvSpPr>
          <p:cNvPr id="12" name="Mục 3"/>
          <p:cNvSpPr txBox="1"/>
          <p:nvPr/>
        </p:nvSpPr>
        <p:spPr>
          <a:xfrm>
            <a:off x="8138160" y="3371088"/>
            <a:ext cx="3200400" cy="661416"/>
          </a:xfrm>
          <a:prstGeom prst="rect">
            <a:avLst/>
          </a:prstGeom>
          <a:noFill/>
          <a:ln/>
        </p:spPr>
        <p:txBody>
          <a:bodyPr wrap="square" lIns="0" tIns="0" rIns="0" bIns="0" rtlCol="0" anchor="t"/>
          <a:lstStyle/>
          <a:p>
            <a:pPr indent="0" marL="0">
              <a:buNone/>
            </a:pPr>
            <a:r>
              <a:rPr lang="en-US" sz="1500" b="1" dirty="0">
                <a:solidFill>
                  <a:schemeClr val="tx1"/>
                </a:solidFill>
              </a:rPr>
              <a:t>Video ngắn · 004</a:t>
            </a:r>
            <a:endParaRPr lang="en-US" sz="1500" dirty="0"/>
          </a:p>
          <a:p>
            <a:pPr indent="0" marL="0">
              <a:buNone/>
            </a:pPr>
            <a:r>
              <a:rPr lang="en-US" sz="1300" dirty="0">
                <a:solidFill>
                  <a:schemeClr val="accent4"/>
                </a:solidFill>
              </a:rPr>
              <a:t>Góc dưới-trái; Reels chiếm 83.5% hành vi, gần như không comment</a:t>
            </a:r>
            <a:endParaRPr lang="en-US" sz="1500" dirty="0"/>
          </a:p>
        </p:txBody>
      </p:sp>
      <p:sp>
        <p:nvSpPr>
          <p:cNvPr id="13" name="Gạch đỏ 4"/>
          <p:cNvSpPr/>
          <p:nvPr/>
        </p:nvSpPr>
        <p:spPr>
          <a:xfrm>
            <a:off x="7818120" y="4347972"/>
            <a:ext cx="182880" cy="0"/>
          </a:xfrm>
          <a:prstGeom prst="line">
            <a:avLst/>
          </a:prstGeom>
          <a:noFill/>
          <a:ln w="31750">
            <a:solidFill>
              <a:schemeClr val="accent1"/>
            </a:solidFill>
            <a:prstDash val="solid"/>
          </a:ln>
        </p:spPr>
      </p:sp>
      <p:sp>
        <p:nvSpPr>
          <p:cNvPr id="14" name="Mục 4"/>
          <p:cNvSpPr txBox="1"/>
          <p:nvPr/>
        </p:nvSpPr>
        <p:spPr>
          <a:xfrm>
            <a:off x="8138160" y="4233672"/>
            <a:ext cx="3200400" cy="661416"/>
          </a:xfrm>
          <a:prstGeom prst="rect">
            <a:avLst/>
          </a:prstGeom>
          <a:noFill/>
          <a:ln/>
        </p:spPr>
        <p:txBody>
          <a:bodyPr wrap="square" lIns="0" tIns="0" rIns="0" bIns="0" rtlCol="0" anchor="t"/>
          <a:lstStyle/>
          <a:p>
            <a:pPr indent="0" marL="0">
              <a:buNone/>
            </a:pPr>
            <a:r>
              <a:rPr lang="en-US" sz="1500" b="1" dirty="0">
                <a:solidFill>
                  <a:schemeClr val="tx1"/>
                </a:solidFill>
              </a:rPr>
              <a:t>Baseline · 001, 006</a:t>
            </a:r>
            <a:endParaRPr lang="en-US" sz="1500" dirty="0"/>
          </a:p>
          <a:p>
            <a:pPr indent="0" marL="0">
              <a:buNone/>
            </a:pPr>
            <a:r>
              <a:rPr lang="en-US" sz="1300" dirty="0">
                <a:solidFill>
                  <a:schemeClr val="accent4"/>
                </a:solidFill>
              </a:rPr>
              <a:t>Sát gốc tọa độ: lướt feed và bấm Like lịch sự</a:t>
            </a:r>
            <a:endParaRPr lang="en-US" sz="1500" dirty="0"/>
          </a:p>
        </p:txBody>
      </p:sp>
      <p:sp>
        <p:nvSpPr>
          <p:cNvPr id="15" name="Gạch đỏ nhận định"/>
          <p:cNvSpPr/>
          <p:nvPr/>
        </p:nvSpPr>
        <p:spPr>
          <a:xfrm>
            <a:off x="822960" y="5897880"/>
            <a:ext cx="182880" cy="0"/>
          </a:xfrm>
          <a:prstGeom prst="line">
            <a:avLst/>
          </a:prstGeom>
          <a:noFill/>
          <a:ln w="31750">
            <a:solidFill>
              <a:schemeClr val="accent1"/>
            </a:solidFill>
            <a:prstDash val="solid"/>
          </a:ln>
        </p:spPr>
      </p:sp>
      <p:sp>
        <p:nvSpPr>
          <p:cNvPr id="16" name="Nhận định"/>
          <p:cNvSpPr txBox="1"/>
          <p:nvPr/>
        </p:nvSpPr>
        <p:spPr>
          <a:xfrm>
            <a:off x="1143000" y="5760720"/>
            <a:ext cx="9875520" cy="292608"/>
          </a:xfrm>
          <a:prstGeom prst="rect">
            <a:avLst/>
          </a:prstGeom>
          <a:noFill/>
          <a:ln/>
        </p:spPr>
        <p:txBody>
          <a:bodyPr wrap="square" lIns="0" tIns="0" rIns="0" bIns="0" rtlCol="0" anchor="t"/>
          <a:lstStyle/>
          <a:p>
            <a:pPr indent="0" marL="0">
              <a:buNone/>
            </a:pPr>
            <a:r>
              <a:rPr lang="en-US" sz="1600" b="1" dirty="0">
                <a:solidFill>
                  <a:schemeClr val="tx1"/>
                </a:solidFill>
              </a:rPr>
              <a:t>Chỉ từ tương tác tự nhiên, các agent tự rẽ nhánh thành 4 phong cách độc lập</a:t>
            </a:r>
            <a:endParaRPr lang="en-US" sz="16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2.1.3 · TẦNG HÀNH VI &amp; NHẬN THỨC (H₂)</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ĐỐI SÁNH TÍNH NHẤT QUÁN VỚI HỒ SƠ</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So sánh mỗi cụm với phần còn lại (One-vs-Rest); 001 và 006 làm mốc đối chứng</a:t>
            </a:r>
            <a:endParaRPr lang="en-US" sz="1600" dirty="0"/>
          </a:p>
        </p:txBody>
      </p:sp>
      <p:graphicFrame>
        <p:nvGraphicFramePr>
          <p:cNvPr id="10" name="Bảng đối sánh 3 cụm"/>
          <p:cNvGraphicFramePr>
            <a:graphicFrameLocks noGrp="1"/>
          </p:cNvGraphicFramePr>
          <p:nvPr>
            <p:extLst>
              <p:ext uri="{D42A27DB-BD31-4B8C-83A1-F6EECF244321}">
                <p14:modId xmlns:p14="http://schemas.microsoft.com/office/powerpoint/2010/main" val="1579011935"/>
              </p:ext>
            </p:extLst>
          </p:nvPr>
        </p:nvGraphicFramePr>
        <p:xfrm>
          <a:off x="822960" y="1600200"/>
          <a:ext cx="10451592" cy="914400"/>
        </p:xfrm>
        <a:graphic>
          <a:graphicData uri="http://schemas.openxmlformats.org/drawingml/2006/table">
            <a:tbl>
              <a:tblPr/>
              <a:tblGrid>
                <a:gridCol w="2514600"/>
                <a:gridCol w="3931920"/>
                <a:gridCol w="3913632"/>
              </a:tblGrid>
              <a:tr h="365760">
                <a:tc>
                  <a:txBody>
                    <a:bodyPr/>
                    <a:lstStyle/>
                    <a:p>
                      <a:pPr algn="l" indent="0" marL="0">
                        <a:buNone/>
                      </a:pPr>
                      <a:r>
                        <a:rPr lang="en-US" sz="1100" b="1" dirty="0">
                          <a:solidFill>
                            <a:srgbClr val="0F172A"/>
                          </a:solidFill>
                        </a:rPr>
                        <a:t>Cụm persona</a:t>
                      </a:r>
                      <a:endParaRPr lang="en-US" sz="1100" dirty="0"/>
                    </a:p>
                  </a:txBody>
                  <a:tcPr marL="91440" marR="91440" marT="45720" marB="45720"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l" indent="0" marL="0">
                        <a:buNone/>
                      </a:pPr>
                      <a:r>
                        <a:rPr lang="en-US" sz="1100" b="1" dirty="0">
                          <a:solidFill>
                            <a:srgbClr val="0F172A"/>
                          </a:solidFill>
                        </a:rPr>
                        <a:t>Khác biệt hành động (cụm vs phần còn lại)</a:t>
                      </a:r>
                      <a:endParaRPr lang="en-US" sz="1100" dirty="0"/>
                    </a:p>
                  </a:txBody>
                  <a:tcPr marL="91440" marR="91440" marT="45720" marB="45720"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l" indent="0" marL="0">
                        <a:buNone/>
                      </a:pPr>
                      <a:r>
                        <a:rPr lang="en-US" sz="1100" b="1" dirty="0">
                          <a:solidFill>
                            <a:srgbClr val="0F172A"/>
                          </a:solidFill>
                        </a:rPr>
                        <a:t>Trường hồ sơ giải thích</a:t>
                      </a:r>
                      <a:endParaRPr lang="en-US" sz="1100" dirty="0"/>
                    </a:p>
                  </a:txBody>
                  <a:tcPr marL="91440" marR="91440" marT="45720" marB="45720"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r>
              <a:tr h="914400">
                <a:tc>
                  <a:txBody>
                    <a:bodyPr/>
                    <a:lstStyle/>
                    <a:p>
                      <a:pPr indent="0" marL="0">
                        <a:buNone/>
                      </a:pPr>
                      <a:r>
                        <a:rPr lang="en-US" sz="1400" b="1" dirty="0">
                          <a:solidFill>
                            <a:srgbClr val="0F172A"/>
                          </a:solidFill>
                        </a:rPr>
                        <a:t>Video ngắn</a:t>
                      </a:r>
                      <a:endParaRPr lang="en-US" sz="1200" dirty="0"/>
                    </a:p>
                    <a:p>
                      <a:pPr indent="0" marL="0">
                        <a:buNone/>
                      </a:pPr>
                      <a:r>
                        <a:rPr lang="en-US" sz="1200" dirty="0">
                          <a:solidFill>
                            <a:srgbClr val="64748B"/>
                          </a:solidFill>
                        </a:rPr>
                        <a:t>004 · Nhân viên quán, 22t</a:t>
                      </a:r>
                      <a:endParaRPr lang="en-US" sz="12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Reels 83.5% hành động (344 lượt) so với 9.9% ở 5 persona còn lại; comment 0.0% so với 2.8%</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Nội dung yêu thích: Video ngắn; cách tương tác: "Tàu ngầm" (chỉ xem và like, không đăng, không comment); Gen Z làm ca kíp</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914400">
                <a:tc>
                  <a:txBody>
                    <a:bodyPr/>
                    <a:lstStyle/>
                    <a:p>
                      <a:pPr indent="0" marL="0">
                        <a:buNone/>
                      </a:pPr>
                      <a:r>
                        <a:rPr lang="en-US" sz="1400" b="1" dirty="0">
                          <a:solidFill>
                            <a:srgbClr val="0F172A"/>
                          </a:solidFill>
                        </a:rPr>
                        <a:t>Đàm luận</a:t>
                      </a:r>
                      <a:endParaRPr lang="en-US" sz="1200" dirty="0"/>
                    </a:p>
                    <a:p>
                      <a:pPr indent="0" marL="0">
                        <a:buNone/>
                      </a:pPr>
                      <a:r>
                        <a:rPr lang="en-US" sz="1200" dirty="0">
                          <a:solidFill>
                            <a:srgbClr val="64748B"/>
                          </a:solidFill>
                        </a:rPr>
                        <a:t>003 &amp; 005 · Bảo vệ, Thợ cơ khí</a:t>
                      </a:r>
                      <a:endParaRPr lang="en-US" sz="12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Comment 30 lượt (5.2%) so với 5 lượt (0.5%); gom 85.7% comment toàn mạng; 005 là persona duy nhất bấm Share</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003: "Chiến thần bình luận dạo" (trực đêm cần giao lưu); 005: "Người thích chia sẻ", xử lý theo logic và dữ liệu</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914400">
                <a:tc>
                  <a:txBody>
                    <a:bodyPr/>
                    <a:lstStyle/>
                    <a:p>
                      <a:pPr indent="0" marL="0">
                        <a:buNone/>
                      </a:pPr>
                      <a:r>
                        <a:rPr lang="en-US" sz="1400" b="1" dirty="0">
                          <a:solidFill>
                            <a:srgbClr val="0F172A"/>
                          </a:solidFill>
                        </a:rPr>
                        <a:t>Cảm xúc ấm áp</a:t>
                      </a:r>
                      <a:endParaRPr lang="en-US" sz="1200" dirty="0"/>
                    </a:p>
                    <a:p>
                      <a:pPr indent="0" marL="0">
                        <a:buNone/>
                      </a:pPr>
                      <a:r>
                        <a:rPr lang="en-US" sz="1200" dirty="0">
                          <a:solidFill>
                            <a:srgbClr val="64748B"/>
                          </a:solidFill>
                        </a:rPr>
                        <a:t>002 · Lao động / Gia đình, 42t</a:t>
                      </a:r>
                      <a:endParaRPr lang="en-US" sz="12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Love + Care 7 lượt (3.8%) so với 2 lượt (0.1%); gom 77.8% cảm xúc ấm áp; 001, 004, 006 đều 0 lượt</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Tín ngưỡng: Phật giáo; tâm trạng nổi bật: Lo âu / Bồn chồn, lấy gia đình và Phật giáo làm điểm tựa</a:t>
                      </a:r>
                      <a:endParaRPr lang="en-US" sz="1300" dirty="0"/>
                    </a:p>
                  </a:txBody>
                  <a:tcPr marL="91440" marR="91440" marT="45720" marB="45720"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bl>
          </a:graphicData>
        </a:graphic>
      </p:graphicFrame>
      <p:sp>
        <p:nvSpPr>
          <p:cNvPr id="7" name="Khung lưu ý"/>
          <p:cNvSpPr/>
          <p:nvPr/>
        </p:nvSpPr>
        <p:spPr>
          <a:xfrm>
            <a:off x="822960" y="5074920"/>
            <a:ext cx="10058400" cy="960120"/>
          </a:xfrm>
          <a:prstGeom prst="roundRect">
            <a:avLst>
              <a:gd name="adj" fmla="val 7619"/>
            </a:avLst>
          </a:prstGeom>
          <a:solidFill>
            <a:schemeClr val="accent3"/>
          </a:solidFill>
          <a:ln/>
        </p:spPr>
      </p:sp>
      <p:sp>
        <p:nvSpPr>
          <p:cNvPr id="8" name="Nội dung lưu ý"/>
          <p:cNvSpPr txBox="1"/>
          <p:nvPr/>
        </p:nvSpPr>
        <p:spPr>
          <a:xfrm>
            <a:off x="1097280" y="5193792"/>
            <a:ext cx="9509760" cy="914400"/>
          </a:xfrm>
          <a:prstGeom prst="rect">
            <a:avLst/>
          </a:prstGeom>
          <a:noFill/>
          <a:ln/>
        </p:spPr>
        <p:txBody>
          <a:bodyPr wrap="square" lIns="0" tIns="0" rIns="0" bIns="0" rtlCol="0" anchor="t"/>
          <a:lstStyle/>
          <a:p>
            <a:pPr indent="0" marL="0">
              <a:buNone/>
            </a:pPr>
            <a:r>
              <a:rPr lang="en-US" sz="1200" b="1" dirty="0">
                <a:solidFill>
                  <a:schemeClr val="accent1"/>
                </a:solidFill>
              </a:rPr>
              <a:t>LƯU Ý PHƯƠNG PHÁP LUẬN</a:t>
            </a:r>
            <a:endParaRPr lang="en-US" sz="1200" dirty="0"/>
          </a:p>
          <a:p>
            <a:pPr indent="0" marL="0">
              <a:buNone/>
            </a:pPr>
            <a:r>
              <a:rPr lang="en-US" sz="1400" dirty="0">
                <a:solidFill>
                  <a:schemeClr val="tx1"/>
                </a:solidFill>
              </a:rPr>
              <a:t>Cỡ mẫu N = 6: đây là EDA khám phá sơ bộ để xác nhận agent có tự rẽ nhánh hành vi theo hồ sơ, chưa đủ cơ sở suy diễn thống kê cho toàn quần thể. Kế hoạch mở rộng N = 30–50 persona và theo dõi nhiều tuần.</a:t>
            </a:r>
            <a:endParaRPr lang="en-US" sz="12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2.2 · TẦNG HÀNH VI &amp; NHẬN THỨC (H₂)</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MA TRẬN ĐỘNG LỰC NHẬN THỨC TOÀN HỆ THỐNG</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Điều gì trong suy nghĩ khiến agent dừng lại và tương tác?</a:t>
            </a:r>
            <a:endParaRPr lang="en-US" sz="1600" dirty="0"/>
          </a:p>
        </p:txBody>
      </p:sp>
      <p:pic>
        <p:nvPicPr>
          <p:cNvPr id="6" name="Image 0" descr="Ma trận 8 primary evidence và phân bổ 6 hành vi theo persona">    </p:cNvPr>
          <p:cNvPicPr>
            <a:picLocks noChangeAspect="1"/>
          </p:cNvPicPr>
          <p:nvPr/>
        </p:nvPicPr>
        <p:blipFill>
          <a:blip r:embed="rId1"/>
          <a:stretch>
            <a:fillRect/>
          </a:stretch>
        </p:blipFill>
        <p:spPr>
          <a:xfrm>
            <a:off x="822960" y="1508760"/>
            <a:ext cx="10058400" cy="4049275"/>
          </a:xfrm>
          <a:prstGeom prst="rect">
            <a:avLst/>
          </a:prstGeom>
        </p:spPr>
      </p:pic>
      <p:sp>
        <p:nvSpPr>
          <p:cNvPr id="7" name="Gạch đỏ 1"/>
          <p:cNvSpPr/>
          <p:nvPr/>
        </p:nvSpPr>
        <p:spPr>
          <a:xfrm>
            <a:off x="822960" y="5779008"/>
            <a:ext cx="182880" cy="0"/>
          </a:xfrm>
          <a:prstGeom prst="line">
            <a:avLst/>
          </a:prstGeom>
          <a:noFill/>
          <a:ln w="31750">
            <a:solidFill>
              <a:schemeClr val="accent1"/>
            </a:solidFill>
            <a:prstDash val="solid"/>
          </a:ln>
        </p:spPr>
      </p:sp>
      <p:sp>
        <p:nvSpPr>
          <p:cNvPr id="8" name="Callout 1"/>
          <p:cNvSpPr txBox="1"/>
          <p:nvPr/>
        </p:nvSpPr>
        <p:spPr>
          <a:xfrm>
            <a:off x="1097280" y="56692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N = 325 hành vi tập trung</a:t>
            </a:r>
            <a:endParaRPr lang="en-US" sz="1400" dirty="0"/>
          </a:p>
          <a:p>
            <a:pPr indent="0" marL="0">
              <a:buNone/>
            </a:pPr>
            <a:r>
              <a:rPr lang="en-US" sz="1200" dirty="0">
                <a:solidFill>
                  <a:schemeClr val="accent4"/>
                </a:solidFill>
              </a:rPr>
              <a:t>read 178 · react 74 · comment 35 · expand 20 · search 17 · share 1</a:t>
            </a:r>
            <a:endParaRPr lang="en-US" sz="1400" dirty="0"/>
          </a:p>
        </p:txBody>
      </p:sp>
      <p:sp>
        <p:nvSpPr>
          <p:cNvPr id="9" name="Gạch đỏ 2"/>
          <p:cNvSpPr/>
          <p:nvPr/>
        </p:nvSpPr>
        <p:spPr>
          <a:xfrm>
            <a:off x="4160520" y="5779008"/>
            <a:ext cx="182880" cy="0"/>
          </a:xfrm>
          <a:prstGeom prst="line">
            <a:avLst/>
          </a:prstGeom>
          <a:noFill/>
          <a:ln w="31750">
            <a:solidFill>
              <a:schemeClr val="accent1"/>
            </a:solidFill>
            <a:prstDash val="solid"/>
          </a:ln>
        </p:spPr>
      </p:sp>
      <p:sp>
        <p:nvSpPr>
          <p:cNvPr id="10" name="Callout 2"/>
          <p:cNvSpPr txBox="1"/>
          <p:nvPr/>
        </p:nvSpPr>
        <p:spPr>
          <a:xfrm>
            <a:off x="4434840" y="56692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Nguyên tắc nhận thức 1-1</a:t>
            </a:r>
            <a:endParaRPr lang="en-US" sz="1400" dirty="0"/>
          </a:p>
          <a:p>
            <a:pPr indent="0" marL="0">
              <a:buNone/>
            </a:pPr>
            <a:r>
              <a:rPr lang="en-US" sz="1200" dirty="0">
                <a:solidFill>
                  <a:schemeClr val="accent4"/>
                </a:solidFill>
              </a:rPr>
              <a:t>Mỗi quyết định gắn một lý do chính (primary_evidence) trích từ CoT</a:t>
            </a:r>
            <a:endParaRPr lang="en-US" sz="1400" dirty="0"/>
          </a:p>
        </p:txBody>
      </p:sp>
      <p:sp>
        <p:nvSpPr>
          <p:cNvPr id="11" name="Gạch đỏ 3"/>
          <p:cNvSpPr/>
          <p:nvPr/>
        </p:nvSpPr>
        <p:spPr>
          <a:xfrm>
            <a:off x="7498080" y="5779008"/>
            <a:ext cx="182880" cy="0"/>
          </a:xfrm>
          <a:prstGeom prst="line">
            <a:avLst/>
          </a:prstGeom>
          <a:noFill/>
          <a:ln w="31750">
            <a:solidFill>
              <a:schemeClr val="accent1"/>
            </a:solidFill>
            <a:prstDash val="solid"/>
          </a:ln>
        </p:spPr>
      </p:sp>
      <p:sp>
        <p:nvSpPr>
          <p:cNvPr id="12" name="Callout 3"/>
          <p:cNvSpPr txBox="1"/>
          <p:nvPr/>
        </p:nvSpPr>
        <p:spPr>
          <a:xfrm>
            <a:off x="7772400" y="5669280"/>
            <a:ext cx="2926080" cy="777240"/>
          </a:xfrm>
          <a:prstGeom prst="rect">
            <a:avLst/>
          </a:prstGeom>
          <a:noFill/>
          <a:ln/>
        </p:spPr>
        <p:txBody>
          <a:bodyPr wrap="square" lIns="0" tIns="0" rIns="0" bIns="0" rtlCol="0" anchor="t"/>
          <a:lstStyle/>
          <a:p>
            <a:pPr indent="0" marL="0">
              <a:buNone/>
            </a:pPr>
            <a:r>
              <a:rPr lang="en-US" sz="1400" b="1" dirty="0">
                <a:solidFill>
                  <a:schemeClr val="tx1"/>
                </a:solidFill>
              </a:rPr>
              <a:t>Động lực chung và riêng</a:t>
            </a:r>
            <a:endParaRPr lang="en-US" sz="1400" dirty="0"/>
          </a:p>
          <a:p>
            <a:pPr indent="0" marL="0">
              <a:buNone/>
            </a:pPr>
            <a:r>
              <a:rPr lang="en-US" sz="1200" dirty="0">
                <a:solidFill>
                  <a:schemeClr val="accent4"/>
                </a:solidFill>
              </a:rPr>
              <a:t>curiosity chung 36.6%, nhưng mỗi persona quan tâm một mảng khác nhau</a:t>
            </a:r>
            <a:endParaRPr lang="en-US" sz="14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body" hasCustomPrompt="1"/>
          </p:nvPr>
        </p:nvSpPr>
        <p:spPr>
          <a:xfrm>
            <a:off x="822960" y="347472"/>
            <a:ext cx="9601200" cy="237744"/>
          </a:xfrm>
          <a:prstGeom prst="rect">
            <a:avLst/>
          </a:prstGeom>
          <a:noFill/>
          <a:ln/>
        </p:spPr>
        <p:txBody>
          <a:bodyPr wrap="square" lIns="0" tIns="0" rIns="0" bIns="0" rtlCol="0" anchor="t"/>
          <a:lstStyle/>
          <a:p>
            <a:pPr algn="l" indent="0" marL="0">
              <a:buNone/>
            </a:pPr>
            <a:r>
              <a:rPr lang="en-US" sz="1100" b="1" dirty="0">
                <a:solidFill>
                  <a:schemeClr val="accent1"/>
                </a:solidFill>
              </a:rPr>
              <a:t>2.2 · TẦNG HÀNH VI &amp; NHẬN THỨC (H₂)</a:t>
            </a:r>
            <a:endParaRPr lang="en-US" sz="1100" dirty="0"/>
          </a:p>
        </p:txBody>
      </p:sp>
      <p:sp>
        <p:nvSpPr>
          <p:cNvPr id="3" name="Text 0"/>
          <p:cNvSpPr/>
          <p:nvPr>
            <p:ph idx="103" type="title" hasCustomPrompt="1"/>
          </p:nvPr>
        </p:nvSpPr>
        <p:spPr>
          <a:xfrm>
            <a:off x="822960" y="621792"/>
            <a:ext cx="10085832" cy="502920"/>
          </a:xfrm>
          <a:prstGeom prst="rect">
            <a:avLst/>
          </a:prstGeom>
          <a:noFill/>
          <a:ln/>
        </p:spPr>
        <p:txBody>
          <a:bodyPr wrap="square" lIns="0" tIns="0" rIns="0" bIns="0" rtlCol="0" anchor="t"/>
          <a:lstStyle/>
          <a:p>
            <a:pPr algn="l" indent="0" marL="0">
              <a:buNone/>
            </a:pPr>
            <a:r>
              <a:rPr lang="en-US" sz="2600" b="1" dirty="0">
                <a:solidFill>
                  <a:schemeClr val="tx1"/>
                </a:solidFill>
              </a:rPr>
              <a:t>ĐỘNG LỰC CHI PHỐI THEO TỪNG PERSONA</a:t>
            </a:r>
            <a:endParaRPr lang="en-US" sz="2600" dirty="0"/>
          </a:p>
        </p:txBody>
      </p:sp>
      <p:sp>
        <p:nvSpPr>
          <p:cNvPr id="4" name="Text 0"/>
          <p:cNvSpPr/>
          <p:nvPr>
            <p:ph idx="104" type="body" hasCustomPrompt="1"/>
          </p:nvPr>
        </p:nvSpPr>
        <p:spPr>
          <a:xfrm>
            <a:off x="822960" y="1115568"/>
            <a:ext cx="10085832" cy="310896"/>
          </a:xfrm>
          <a:prstGeom prst="rect">
            <a:avLst/>
          </a:prstGeom>
          <a:noFill/>
          <a:ln/>
        </p:spPr>
        <p:txBody>
          <a:bodyPr wrap="square" lIns="0" tIns="0" rIns="0" bIns="0" rtlCol="0" anchor="t"/>
          <a:lstStyle/>
          <a:p>
            <a:pPr algn="l" indent="0" marL="0">
              <a:buNone/>
            </a:pPr>
            <a:r>
              <a:rPr lang="en-US" sz="1600" dirty="0">
                <a:solidFill>
                  <a:schemeClr val="tx2"/>
                </a:solidFill>
              </a:rPr>
              <a:t>Top động lực nhận thức (primary_dimension) và phong cách chủ đạo</a:t>
            </a:r>
            <a:endParaRPr lang="en-US" sz="1600" dirty="0"/>
          </a:p>
        </p:txBody>
      </p:sp>
      <p:graphicFrame>
        <p:nvGraphicFramePr>
          <p:cNvPr id="12" name="Bảng động lực theo persona"/>
          <p:cNvGraphicFramePr>
            <a:graphicFrameLocks noGrp="1"/>
          </p:cNvGraphicFramePr>
          <p:nvPr>
            <p:extLst>
              <p:ext uri="{D42A27DB-BD31-4B8C-83A1-F6EECF244321}">
                <p14:modId xmlns:p14="http://schemas.microsoft.com/office/powerpoint/2010/main" val="1579011935"/>
              </p:ext>
            </p:extLst>
          </p:nvPr>
        </p:nvGraphicFramePr>
        <p:xfrm>
          <a:off x="822960" y="1600200"/>
          <a:ext cx="10451592" cy="914400"/>
        </p:xfrm>
        <a:graphic>
          <a:graphicData uri="http://schemas.openxmlformats.org/drawingml/2006/table">
            <a:tbl>
              <a:tblPr/>
              <a:tblGrid>
                <a:gridCol w="1920240"/>
                <a:gridCol w="1097280"/>
                <a:gridCol w="3749040"/>
                <a:gridCol w="3685032"/>
              </a:tblGrid>
              <a:tr h="365760">
                <a:tc>
                  <a:txBody>
                    <a:bodyPr/>
                    <a:lstStyle/>
                    <a:p>
                      <a:pPr algn="l" indent="0" marL="0">
                        <a:buNone/>
                      </a:pPr>
                      <a:r>
                        <a:rPr lang="en-US" sz="1100" b="1" dirty="0">
                          <a:solidFill>
                            <a:srgbClr val="0F172A"/>
                          </a:solidFill>
                        </a:rPr>
                        <a:t>Persona</a:t>
                      </a:r>
                      <a:endParaRPr lang="en-US" sz="1100" dirty="0"/>
                    </a:p>
                  </a:txBody>
                  <a:tcPr marL="91440" marR="91440" marT="36576" marB="36576"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ctr" indent="0" marL="0">
                        <a:buNone/>
                      </a:pPr>
                      <a:r>
                        <a:rPr lang="en-US" sz="1100" b="1" dirty="0">
                          <a:solidFill>
                            <a:srgbClr val="0F172A"/>
                          </a:solidFill>
                        </a:rPr>
                        <a:t>Số hành vi</a:t>
                      </a:r>
                      <a:endParaRPr lang="en-US" sz="1100" dirty="0"/>
                    </a:p>
                  </a:txBody>
                  <a:tcPr marL="91440" marR="91440" marT="36576" marB="36576"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l" indent="0" marL="0">
                        <a:buNone/>
                      </a:pPr>
                      <a:r>
                        <a:rPr lang="en-US" sz="1100" b="1" dirty="0">
                          <a:solidFill>
                            <a:srgbClr val="0F172A"/>
                          </a:solidFill>
                        </a:rPr>
                        <a:t>Top động lực (primary_dimension)</a:t>
                      </a:r>
                      <a:endParaRPr lang="en-US" sz="1100" dirty="0"/>
                    </a:p>
                  </a:txBody>
                  <a:tcPr marL="91440" marR="91440" marT="36576" marB="36576"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c>
                  <a:txBody>
                    <a:bodyPr/>
                    <a:lstStyle/>
                    <a:p>
                      <a:pPr algn="l" indent="0" marL="0">
                        <a:buNone/>
                      </a:pPr>
                      <a:r>
                        <a:rPr lang="en-US" sz="1100" b="1" dirty="0">
                          <a:solidFill>
                            <a:srgbClr val="0F172A"/>
                          </a:solidFill>
                        </a:rPr>
                        <a:t>Phong cách nhận thức chủ đạo</a:t>
                      </a:r>
                      <a:endParaRPr lang="en-US" sz="1100" dirty="0"/>
                    </a:p>
                  </a:txBody>
                  <a:tcPr marL="91440" marR="91440" marT="36576" marB="36576" anchor="ctr">
                    <a:lnL w="0" cap="flat" cmpd="sng" algn="ctr">
                      <a:noFill/>
                    </a:lnL>
                    <a:lnR w="0" cap="flat" cmpd="sng" algn="ctr">
                      <a:noFill/>
                    </a:lnR>
                    <a:lnT w="0" cap="flat" cmpd="sng" algn="ctr">
                      <a:noFill/>
                    </a:lnT>
                    <a:lnB w="19050" cap="flat" cmpd="sng" algn="ctr">
                      <a:solidFill>
                        <a:srgbClr val="0F172A"/>
                      </a:solidFill>
                      <a:prstDash val="solid"/>
                      <a:round/>
                      <a:headEnd type="none" w="med" len="med"/>
                      <a:tailEnd type="none" w="med" len="med"/>
                    </a:lnB>
                  </a:tcPr>
                </a:tc>
              </a:tr>
              <a:tr h="566928">
                <a:tc>
                  <a:txBody>
                    <a:bodyPr/>
                    <a:lstStyle/>
                    <a:p>
                      <a:pPr indent="0" marL="0">
                        <a:buNone/>
                      </a:pPr>
                      <a:r>
                        <a:rPr lang="en-US" sz="1400" b="1" dirty="0">
                          <a:solidFill>
                            <a:srgbClr val="E93744"/>
                          </a:solidFill>
                        </a:rPr>
                        <a:t>001  </a:t>
                      </a:r>
                      <a:pPr indent="0" marL="0">
                        <a:buNone/>
                      </a:pPr>
                      <a:r>
                        <a:rPr lang="en-US" sz="1300" b="1" dirty="0">
                          <a:solidFill>
                            <a:srgbClr val="0F172A"/>
                          </a:solidFill>
                        </a:rPr>
                        <a:t>Thiết kế</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83</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curiosity 54.2% · interest_real_estate 22.9%</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Duy lý &amp; Thẩm mỹ: đọc sâu cờ vua, công nghệ AI kiến trúc, BĐS</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E93744"/>
                          </a:solidFill>
                        </a:rPr>
                        <a:t>002  </a:t>
                      </a:r>
                      <a:pPr indent="0" marL="0">
                        <a:buNone/>
                      </a:pPr>
                      <a:r>
                        <a:rPr lang="en-US" sz="1300" b="1" dirty="0">
                          <a:solidFill>
                            <a:srgbClr val="0F172A"/>
                          </a:solidFill>
                        </a:rPr>
                        <a:t>Gia đình</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42</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Emotional state 33.3% · curiosity 11.9% · emotional_expressiveness 11.9%</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Tâm linh &amp; Gia đình: cầu an tượng Phật bà, viện dưỡng lão, chúc phúc</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E93744"/>
                          </a:solidFill>
                        </a:rPr>
                        <a:t>003  </a:t>
                      </a:r>
                      <a:pPr indent="0" marL="0">
                        <a:buNone/>
                      </a:pPr>
                      <a:r>
                        <a:rPr lang="en-US" sz="1300" b="1" dirty="0">
                          <a:solidFill>
                            <a:srgbClr val="0F172A"/>
                          </a:solidFill>
                        </a:rPr>
                        <a:t>Bảo vệ</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46</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cuisine_vietnamese 30.4% · cuisine_street_food 19.6%</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Ẩm thực đường phố: bình luận tìm quán ăn đêm, giao lưu bình dân</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E93744"/>
                          </a:solidFill>
                        </a:rPr>
                        <a:t>004  </a:t>
                      </a:r>
                      <a:pPr indent="0" marL="0">
                        <a:buNone/>
                      </a:pPr>
                      <a:r>
                        <a:rPr lang="en-US" sz="1300" b="1" dirty="0">
                          <a:solidFill>
                            <a:srgbClr val="0F172A"/>
                          </a:solidFill>
                        </a:rPr>
                        <a:t>Nhân viên</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21</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sport_football 47.6% · content_consumption_format 33.3%</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Thể thao &amp; Video ngắn: tương tác highlight bóng đá, giải trí nhanh</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E93744"/>
                          </a:solidFill>
                        </a:rPr>
                        <a:t>005  </a:t>
                      </a:r>
                      <a:pPr indent="0" marL="0">
                        <a:buNone/>
                      </a:pPr>
                      <a:r>
                        <a:rPr lang="en-US" sz="1300" b="1" dirty="0">
                          <a:solidFill>
                            <a:srgbClr val="0F172A"/>
                          </a:solidFill>
                        </a:rPr>
                        <a:t>Thợ cơ khí</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74</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curiosity 56.8% · value_tradition 28.4%</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Kỹ thuật &amp; Lịch sử: đa dạng hành vi, dẫn đầu tìm kiếm và xem thêm</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r h="566928">
                <a:tc>
                  <a:txBody>
                    <a:bodyPr/>
                    <a:lstStyle/>
                    <a:p>
                      <a:pPr indent="0" marL="0">
                        <a:buNone/>
                      </a:pPr>
                      <a:r>
                        <a:rPr lang="en-US" sz="1400" b="1" dirty="0">
                          <a:solidFill>
                            <a:srgbClr val="E93744"/>
                          </a:solidFill>
                        </a:rPr>
                        <a:t>006  </a:t>
                      </a:r>
                      <a:pPr indent="0" marL="0">
                        <a:buNone/>
                      </a:pPr>
                      <a:r>
                        <a:rPr lang="en-US" sz="1300" b="1" dirty="0">
                          <a:solidFill>
                            <a:srgbClr val="0F172A"/>
                          </a:solidFill>
                        </a:rPr>
                        <a:t>Kinh doanh</a:t>
                      </a:r>
                      <a:endParaRPr lang="en-US" sz="12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algn="ctr" indent="0" marL="0">
                        <a:buNone/>
                      </a:pPr>
                      <a:r>
                        <a:rPr lang="en-US" sz="1300" dirty="0">
                          <a:solidFill>
                            <a:srgbClr val="334155"/>
                          </a:solidFill>
                        </a:rPr>
                        <a:t>59</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curiosity 33.9% · interest_real_estate 28.8%</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c>
                  <a:txBody>
                    <a:bodyPr/>
                    <a:lstStyle/>
                    <a:p>
                      <a:pPr indent="0" marL="0">
                        <a:buNone/>
                      </a:pPr>
                      <a:r>
                        <a:rPr lang="en-US" sz="1300" dirty="0">
                          <a:solidFill>
                            <a:srgbClr val="334155"/>
                          </a:solidFill>
                        </a:rPr>
                        <a:t>Thực dụng &amp; Thận trọng: đọc sâu cao nhất (72.9%), khảo sát giá căn hộ</a:t>
                      </a:r>
                      <a:endParaRPr lang="en-US" sz="1300" dirty="0"/>
                    </a:p>
                  </a:txBody>
                  <a:tcPr marL="91440" marR="91440" marT="36576" marB="36576" anchor="ctr">
                    <a:lnL w="0" cap="flat" cmpd="sng" algn="ctr">
                      <a:noFill/>
                    </a:lnL>
                    <a:lnR w="0" cap="flat" cmpd="sng" algn="ctr">
                      <a:noFill/>
                    </a:lnR>
                    <a:lnT w="0" cap="flat" cmpd="sng" algn="ctr">
                      <a:noFill/>
                    </a:lnT>
                    <a:lnB w="6350" cap="flat" cmpd="sng" algn="ctr">
                      <a:solidFill>
                        <a:srgbClr val="E2E8F0"/>
                      </a:solidFill>
                      <a:prstDash val="solid"/>
                      <a:round/>
                      <a:headEnd type="none" w="med" len="med"/>
                      <a:tailEnd type="none" w="med" len="med"/>
                    </a:lnB>
                  </a:tcPr>
                </a:tc>
              </a:tr>
            </a:tbl>
          </a:graphicData>
        </a:graphic>
      </p:graphicFrame>
      <p:sp>
        <p:nvSpPr>
          <p:cNvPr id="7" name="Gạch đỏ nhận định"/>
          <p:cNvSpPr/>
          <p:nvPr/>
        </p:nvSpPr>
        <p:spPr>
          <a:xfrm>
            <a:off x="822960" y="5715000"/>
            <a:ext cx="182880" cy="0"/>
          </a:xfrm>
          <a:prstGeom prst="line">
            <a:avLst/>
          </a:prstGeom>
          <a:noFill/>
          <a:ln w="31750">
            <a:solidFill>
              <a:schemeClr val="accent1"/>
            </a:solidFill>
            <a:prstDash val="solid"/>
          </a:ln>
        </p:spPr>
      </p:sp>
      <p:sp>
        <p:nvSpPr>
          <p:cNvPr id="8" name="Nhận định"/>
          <p:cNvSpPr txBox="1"/>
          <p:nvPr/>
        </p:nvSpPr>
        <p:spPr>
          <a:xfrm>
            <a:off x="1143000" y="5577840"/>
            <a:ext cx="9875520" cy="292608"/>
          </a:xfrm>
          <a:prstGeom prst="rect">
            <a:avLst/>
          </a:prstGeom>
          <a:noFill/>
          <a:ln/>
        </p:spPr>
        <p:txBody>
          <a:bodyPr wrap="square" lIns="0" tIns="0" rIns="0" bIns="0" rtlCol="0" anchor="t"/>
          <a:lstStyle/>
          <a:p>
            <a:pPr indent="0" marL="0">
              <a:buNone/>
            </a:pPr>
            <a:r>
              <a:rPr lang="en-US" sz="1600" b="1" dirty="0">
                <a:solidFill>
                  <a:schemeClr val="tx1"/>
                </a:solidFill>
              </a:rPr>
              <a:t>Cùng tò mò nhưng đối tượng khác nhau: thẩm mỹ (001), kỹ thuật (005), tài chính (006)</a:t>
            </a:r>
            <a:endParaRPr lang="en-US" sz="1600" dirty="0"/>
          </a:p>
        </p:txBody>
      </p:sp>
      <p:sp>
        <p:nvSpPr>
          <p:cNvPr id="25" name="Slide Number Placeholder 0"/>
          <p:cNvSpPr>
            <a:spLocks noGrp="1"/>
          </p:cNvSpPr>
          <p:nvPr>
            <p:ph type="sldNum" sz="quarter" idx="4294967295"/>
          </p:nvPr>
        </p:nvSpPr>
        <p:spPr>
          <a:xfrm>
            <a:off x="11567160" y="6336792"/>
            <a:ext cx="548640" cy="274320"/>
          </a:xfrm>
          <a:prstGeom prst="rect">
            <a:avLst/>
          </a:prstGeom>
          <a:extLst>
            <a:ext uri="{C572A759-6A51-4108-AA02-DFA0A04FC94B}">
              <ma14:wrappingTextBoxFlag xmlns:ma14="http://schemas.microsoft.com/office/mac/drawingml/2011/main" val="0"/>
            </a:ext>
          </a:extLst>
        </p:spPr>
        <p:txBody>
          <a:bodyPr anchor="ctr"/>
          <a:lstStyle>
            <a:lvl1pPr>
              <a:defRPr sz="1200">
                <a:solidFill>
                  <a:schemeClr val="bg1"/>
                </a:solidFill>
              </a:defRPr>
            </a:lvl1pPr>
          </a:lstStyle>
          <a:p>
            <a:pPr algn="ctr"/>
            <a:fld id="{F7021451-1387-4CA6-816F-3879F97B5CBC}" type="slidenum">
              <a:rPr b="1" lang="en-US"/>
              <a:t>11</a:t>
            </a:fld>
            <a:endParaRPr lang="en-US"/>
          </a:p>
        </p:txBody>
      </p:sp>
    </p:spTree>
  </p:cSld>
  <p:clrMapOvr>
    <a:masterClrMapping/>
  </p:clrMapOvr>
</p:sld>
</file>

<file path=ppt/theme/theme1.xml><?xml version="1.0" encoding="utf-8"?>
<a:theme xmlns:a="http://schemas.openxmlformats.org/drawingml/2006/main" name="Persona Report">
  <a:themeElements>
    <a:clrScheme name="Persona Report">
      <a:dk1>
        <a:srgbClr val="0F172A"/>
      </a:dk1>
      <a:lt1>
        <a:srgbClr val="FFFFFF"/>
      </a:lt1>
      <a:dk2>
        <a:srgbClr val="64748B"/>
      </a:dk2>
      <a:lt2>
        <a:srgbClr val="F1F5F9"/>
      </a:lt2>
      <a:accent1>
        <a:srgbClr val="E93744"/>
      </a:accent1>
      <a:accent2>
        <a:srgbClr val="0F172A"/>
      </a:accent2>
      <a:accent3>
        <a:srgbClr val="FDECEF"/>
      </a:accent3>
      <a:accent4>
        <a:srgbClr val="475569"/>
      </a:accent4>
      <a:accent5>
        <a:srgbClr val="E2E8F0"/>
      </a:accent5>
      <a:accent6>
        <a:srgbClr val="94A3B8"/>
      </a:accent6>
      <a:hlink>
        <a:srgbClr val="E93744"/>
      </a:hlink>
      <a:folHlink>
        <a:srgbClr val="64748B"/>
      </a:folHlink>
    </a:clrScheme>
    <a:fontScheme name="Persona Repor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Kiểm chứng tính nhất quán 6 Persona Agents trên Facebook</dc:title>
  <dc:subject>PptxGenJS Presentation</dc:subject>
  <dc:creator>PptxGenJS</dc:creator>
  <cp:lastModifiedBy>PptxGenJS</cp:lastModifiedBy>
  <cp:revision>1</cp:revision>
  <dcterms:created xsi:type="dcterms:W3CDTF">2026-10-09T11:33:52Z</dcterms:created>
  <dcterms:modified xsi:type="dcterms:W3CDTF">2026-10-09T11:33:52Z</dcterms:modified>
</cp:coreProperties>
</file>